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sldIdLst>
    <p:sldId id="256" r:id="rId5"/>
    <p:sldId id="258" r:id="rId6"/>
    <p:sldId id="257" r:id="rId7"/>
    <p:sldId id="259" r:id="rId8"/>
    <p:sldId id="260" r:id="rId9"/>
    <p:sldId id="262" r:id="rId10"/>
    <p:sldId id="271" r:id="rId11"/>
    <p:sldId id="276" r:id="rId12"/>
    <p:sldId id="268" r:id="rId13"/>
    <p:sldId id="272" r:id="rId14"/>
    <p:sldId id="278" r:id="rId15"/>
    <p:sldId id="286" r:id="rId16"/>
    <p:sldId id="281" r:id="rId17"/>
    <p:sldId id="274" r:id="rId18"/>
    <p:sldId id="279" r:id="rId19"/>
    <p:sldId id="280" r:id="rId20"/>
    <p:sldId id="269" r:id="rId21"/>
    <p:sldId id="270" r:id="rId22"/>
    <p:sldId id="284" r:id="rId23"/>
    <p:sldId id="285" r:id="rId24"/>
    <p:sldId id="282" r:id="rId25"/>
    <p:sldId id="28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ương Văn Bình" initials="DB" lastIdx="1" clrIdx="0">
    <p:extLst>
      <p:ext uri="{19B8F6BF-5375-455C-9EA6-DF929625EA0E}">
        <p15:presenceInfo xmlns:p15="http://schemas.microsoft.com/office/powerpoint/2012/main" userId="S::18520505@ms.uit.edu.vn::f2af8b39-bc4b-4050-8220-f7f9a59d4a5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5802B-DEF2-443D-A9C3-C428B61BF567}" v="200" dt="2021-07-25T15:00:27.004"/>
    <p1510:client id="{1BA699D2-0314-437F-856B-D16533E30E2B}" v="1478" vWet="1480" dt="2021-07-25T13:14:25.562"/>
    <p1510:client id="{6B5BD0A6-CDDF-2C9A-C7D0-4F6B1DF9D4E3}" v="8" dt="2021-07-25T08:59:43.0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Kiểu Trung bình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49" autoAdjust="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DA93BB-8E6E-478E-AEEB-81A4EF554E17}" type="datetimeFigureOut">
              <a:rPr lang="en-US" smtClean="0"/>
              <a:t>7/25/2021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F0BFDB-0419-46E9-8E2A-A615233BC1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441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F0BFDB-0419-46E9-8E2A-A615233BC11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590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>
                <a:effectLst/>
                <a:latin typeface="Arial" panose="020B0604020202020204" pitchFamily="34" charset="0"/>
              </a:rPr>
              <a:t>Spark Core is the base engine for large-scale parallel anddistributed data processing</a:t>
            </a:r>
            <a:endParaRPr lang="en-US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F0BFDB-0419-46E9-8E2A-A615233BC11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816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F0BFDB-0419-46E9-8E2A-A615233BC11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6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F0BFDB-0419-46E9-8E2A-A615233BC11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84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7BA56A9-E99C-44A9-A88F-4635AEAACEC4}" type="datetime1">
              <a:rPr lang="en-US" smtClean="0"/>
              <a:t>7/25/2021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861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FE2FC-A2F6-4FE8-AE16-FFF61E467AA0}" type="datetime1">
              <a:rPr lang="en-US" smtClean="0"/>
              <a:t>7/25/2021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69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EE13D-236A-4B36-998F-A1F330BDF2D6}" type="datetime1">
              <a:rPr lang="en-US" smtClean="0"/>
              <a:t>7/25/2021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52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69C5C-7B2C-4E61-9724-CE4573F684B1}" type="datetime1">
              <a:rPr lang="en-US" smtClean="0"/>
              <a:t>7/25/2021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0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4E316-13F2-45AB-8E93-F386BAA8DA44}" type="datetime1">
              <a:rPr lang="en-US" smtClean="0"/>
              <a:t>7/25/2021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710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32C96-EFFF-4518-A366-866AACD34673}" type="datetime1">
              <a:rPr lang="en-US" smtClean="0"/>
              <a:t>7/25/2021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231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03E9D-1D29-446E-8F21-491264C93D19}" type="datetime1">
              <a:rPr lang="en-US" smtClean="0"/>
              <a:t>7/25/2021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B2FB555-B5FE-452C-8BCE-C4673C20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10429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E4527-CF44-406C-ABD8-F13976700BAC}" type="datetime1">
              <a:rPr lang="en-US" smtClean="0"/>
              <a:t>7/25/2021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4120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94BA5-4713-4CF2-8B3D-3731C8AA00C2}" type="datetime1">
              <a:rPr lang="en-US" smtClean="0"/>
              <a:t>7/25/2021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62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EAA7-F534-4A4E-A4A6-AA0FCDCD6CA0}" type="datetime1">
              <a:rPr lang="en-US" smtClean="0"/>
              <a:t>7/25/2021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1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5AAFA-89DF-4250-9329-DE8B00C78CC1}" type="datetime1">
              <a:rPr lang="en-US" smtClean="0"/>
              <a:t>7/25/2021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094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58C8E-E6C5-44DF-A411-0FF5C0142085}" type="datetime1">
              <a:rPr lang="en-US" smtClean="0"/>
              <a:t>7/25/2021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428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F1AB8-781F-483B-BE9A-D99E1851B572}" type="datetime1">
              <a:rPr lang="en-US" smtClean="0"/>
              <a:t>7/25/2021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609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42BB7-7056-45EA-B590-BFDBB0FA192D}" type="datetime1">
              <a:rPr lang="en-US" smtClean="0"/>
              <a:t>7/25/2021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18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D0362-00E1-48B3-B533-59973605D14E}" type="datetime1">
              <a:rPr lang="en-US" smtClean="0"/>
              <a:t>7/25/2021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1618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59F4B-560D-44EE-A5B8-291E7EB0BAFA}" type="datetime1">
              <a:rPr lang="en-US" smtClean="0"/>
              <a:t>7/25/2021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7789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5D157-79B8-4161-BC85-2D464D7B9F7D}" type="datetime1">
              <a:rPr lang="en-US" smtClean="0"/>
              <a:t>7/25/2021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05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0AFA505-9BB1-456E-A94D-FF875CCFA0EB}" type="datetime1">
              <a:rPr lang="en-US" smtClean="0"/>
              <a:t>7/25/2021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59D3ED6-15A1-4F13-869E-D1FA5584F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735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12">
            <a:extLst>
              <a:ext uri="{FF2B5EF4-FFF2-40B4-BE49-F238E27FC236}">
                <a16:creationId xmlns:a16="http://schemas.microsoft.com/office/drawing/2014/main" id="{C458EB8A-C7C5-4211-9687-A5EE0C6DD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14">
            <a:extLst>
              <a:ext uri="{FF2B5EF4-FFF2-40B4-BE49-F238E27FC236}">
                <a16:creationId xmlns:a16="http://schemas.microsoft.com/office/drawing/2014/main" id="{65D94D4E-6D90-4017-88B5-20FB90038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38" name="Picture 15">
              <a:extLst>
                <a:ext uri="{FF2B5EF4-FFF2-40B4-BE49-F238E27FC236}">
                  <a16:creationId xmlns:a16="http://schemas.microsoft.com/office/drawing/2014/main" id="{55383EC4-D6DD-4C5A-913E-9FBB97309C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9779F7A-4308-4A06-9EE1-97A003037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39" name="Picture 17">
              <a:extLst>
                <a:ext uri="{FF2B5EF4-FFF2-40B4-BE49-F238E27FC236}">
                  <a16:creationId xmlns:a16="http://schemas.microsoft.com/office/drawing/2014/main" id="{A0F2FC2F-2244-4240-94B0-9D51B33BA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40" name="Picture 18">
              <a:extLst>
                <a:ext uri="{FF2B5EF4-FFF2-40B4-BE49-F238E27FC236}">
                  <a16:creationId xmlns:a16="http://schemas.microsoft.com/office/drawing/2014/main" id="{03307054-69F1-41D9-993D-AE5A21F86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C60A92A-0966-4482-B026-97D8AC290597}"/>
              </a:ext>
            </a:extLst>
          </p:cNvPr>
          <p:cNvSpPr txBox="1"/>
          <p:nvPr/>
        </p:nvSpPr>
        <p:spPr>
          <a:xfrm>
            <a:off x="3674571" y="4191044"/>
            <a:ext cx="9603727" cy="405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/>
              <a:t>Advisor: PhD. </a:t>
            </a:r>
            <a:r>
              <a:rPr lang="en-US" i="1"/>
              <a:t>Trong-Hop Do</a:t>
            </a:r>
          </a:p>
        </p:txBody>
      </p:sp>
      <p:sp>
        <p:nvSpPr>
          <p:cNvPr id="41" name="Rectangle 20">
            <a:extLst>
              <a:ext uri="{FF2B5EF4-FFF2-40B4-BE49-F238E27FC236}">
                <a16:creationId xmlns:a16="http://schemas.microsoft.com/office/drawing/2014/main" id="{B6E7B777-18B2-4C35-B506-702DC68D2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1086" y="1092200"/>
            <a:ext cx="8962768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F7A100-AC98-48E5-8ADC-222C893FB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64080" y="5518838"/>
            <a:ext cx="7863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F27A0BA8-1237-4187-B322-3903BD8A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1008" y="5934456"/>
            <a:ext cx="551167" cy="27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59D3ED6-15A1-4F13-869E-D1FA5584FF26}" type="slidenum">
              <a:rPr lang="en-US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1</a:t>
            </a:fld>
            <a:endParaRPr lang="en-US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81178320-C01A-44CD-9911-078242D91EF9}"/>
              </a:ext>
            </a:extLst>
          </p:cNvPr>
          <p:cNvSpPr txBox="1"/>
          <p:nvPr/>
        </p:nvSpPr>
        <p:spPr>
          <a:xfrm>
            <a:off x="2378928" y="1413847"/>
            <a:ext cx="7462440" cy="2939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3600"/>
              <a:t>AN INVESTIGATION ON VIETNAMESE CREDIT SCORING BASED ON BIG DATA PLATFORM AND ENSEMBLE LEARNING</a:t>
            </a:r>
          </a:p>
          <a:p>
            <a:pPr>
              <a:spcAft>
                <a:spcPts val="600"/>
              </a:spcAft>
            </a:pPr>
            <a:endParaRPr lang="en-US" sz="36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1B0071-151D-41F4-87F6-30E3A6D73BB8}"/>
              </a:ext>
            </a:extLst>
          </p:cNvPr>
          <p:cNvSpPr txBox="1"/>
          <p:nvPr/>
        </p:nvSpPr>
        <p:spPr>
          <a:xfrm>
            <a:off x="2481724" y="4173523"/>
            <a:ext cx="3705935" cy="17851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/>
              <a:t>Author:</a:t>
            </a:r>
          </a:p>
          <a:p>
            <a:pPr>
              <a:spcAft>
                <a:spcPts val="600"/>
              </a:spcAft>
            </a:pPr>
            <a:r>
              <a:rPr lang="en-US"/>
              <a:t>Quang-Linh Tran - 18520997</a:t>
            </a:r>
            <a:endParaRPr lang="en-US"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lang="en-US"/>
              <a:t>Van-Binh Duong - 18520505</a:t>
            </a:r>
            <a:endParaRPr lang="en-US">
              <a:cs typeface="Times New Roman"/>
            </a:endParaRPr>
          </a:p>
          <a:p>
            <a:pPr>
              <a:spcAft>
                <a:spcPts val="600"/>
              </a:spcAft>
            </a:pPr>
            <a:r>
              <a:rPr lang="en-US"/>
              <a:t>Gia-Huy Lam - 18520832</a:t>
            </a:r>
            <a:endParaRPr lang="en-US">
              <a:cs typeface="Times New Roman"/>
            </a:endParaRPr>
          </a:p>
          <a:p>
            <a:pPr>
              <a:spcAft>
                <a:spcPts val="6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90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C17F0-2629-4A07-9FE3-D070F5908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619313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US" sz="4400" b="1"/>
              <a:t>Table of Content</a:t>
            </a:r>
            <a:br>
              <a:rPr lang="en-US" sz="4400" b="1"/>
            </a:b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351693-E340-407F-AF7D-549031055A72}"/>
              </a:ext>
            </a:extLst>
          </p:cNvPr>
          <p:cNvSpPr txBox="1"/>
          <p:nvPr/>
        </p:nvSpPr>
        <p:spPr>
          <a:xfrm>
            <a:off x="1295402" y="2271247"/>
            <a:ext cx="705674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/>
              <a:t>INTRODUCTION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/>
              <a:t>RELATED WORKS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/>
              <a:t>METHODOLOGIES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/>
              <a:t>EXPERIMENT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/>
              <a:t>RESULTS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800"/>
              <a:t>CONCLUSION AND FUTURE WORK</a:t>
            </a:r>
          </a:p>
          <a:p>
            <a:pPr marL="342900" indent="-342900">
              <a:buFont typeface="+mj-lt"/>
              <a:buAutoNum type="arabicPeriod"/>
            </a:pPr>
            <a:endParaRPr lang="en-US" sz="2800"/>
          </a:p>
          <a:p>
            <a:pPr marL="342900" indent="-342900">
              <a:buFont typeface="+mj-lt"/>
              <a:buAutoNum type="arabicPeriod"/>
            </a:pPr>
            <a:endParaRPr lang="en-US" sz="2800"/>
          </a:p>
        </p:txBody>
      </p:sp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15D15CD2-A866-44E4-A853-209DEF021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294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5C5A9BB-CC7E-4754-9BB6-03B1B9BA0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05061"/>
            <a:ext cx="9601196" cy="130386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/>
              <a:t>INTRODUCTION</a:t>
            </a:r>
            <a:endParaRPr lang="en-US" sz="2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358B6F-1FB7-46FC-A904-BEA618F218E1}"/>
              </a:ext>
            </a:extLst>
          </p:cNvPr>
          <p:cNvSpPr txBox="1"/>
          <p:nvPr/>
        </p:nvSpPr>
        <p:spPr>
          <a:xfrm>
            <a:off x="7343087" y="4041670"/>
            <a:ext cx="29403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>
              <a:latin typeface="+mj-lt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E9B7BCE-87CD-43C9-88B3-B30461E8A2C0}"/>
              </a:ext>
            </a:extLst>
          </p:cNvPr>
          <p:cNvSpPr/>
          <p:nvPr/>
        </p:nvSpPr>
        <p:spPr>
          <a:xfrm>
            <a:off x="2042941" y="4426209"/>
            <a:ext cx="1947419" cy="8350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Financial and personal data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86FDDD1-BC77-4B35-83D0-4C18E9B8200D}"/>
              </a:ext>
            </a:extLst>
          </p:cNvPr>
          <p:cNvSpPr/>
          <p:nvPr/>
        </p:nvSpPr>
        <p:spPr>
          <a:xfrm>
            <a:off x="5095260" y="4243570"/>
            <a:ext cx="1847653" cy="120032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+mj-lt"/>
              </a:rPr>
              <a:t>Credit scoring model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96CAB32-04D2-4AD0-9FD5-8783246FA2B7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 flipV="1">
            <a:off x="3990360" y="4843735"/>
            <a:ext cx="11049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06E73BE-E182-4B81-A6A4-5DD85474101C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6942913" y="4843734"/>
            <a:ext cx="91243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D28FD633-28C6-4113-B85B-2AF940F11685}"/>
              </a:ext>
            </a:extLst>
          </p:cNvPr>
          <p:cNvSpPr/>
          <p:nvPr/>
        </p:nvSpPr>
        <p:spPr>
          <a:xfrm>
            <a:off x="7855349" y="4087021"/>
            <a:ext cx="1128022" cy="14894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A809BBD-270B-47D3-B033-2BAA1BE041BB}"/>
              </a:ext>
            </a:extLst>
          </p:cNvPr>
          <p:cNvSpPr/>
          <p:nvPr/>
        </p:nvSpPr>
        <p:spPr>
          <a:xfrm>
            <a:off x="7982611" y="4105032"/>
            <a:ext cx="838986" cy="74471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0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13CE7C4-AB54-4850-BBD2-4AAB33258C3B}"/>
              </a:ext>
            </a:extLst>
          </p:cNvPr>
          <p:cNvSpPr/>
          <p:nvPr/>
        </p:nvSpPr>
        <p:spPr>
          <a:xfrm>
            <a:off x="8012409" y="4867758"/>
            <a:ext cx="838986" cy="69968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+mj-lt"/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1133FD0-E77B-44DE-A99B-DA01C56CE160}"/>
              </a:ext>
            </a:extLst>
          </p:cNvPr>
          <p:cNvSpPr txBox="1"/>
          <p:nvPr/>
        </p:nvSpPr>
        <p:spPr>
          <a:xfrm>
            <a:off x="7982611" y="3579190"/>
            <a:ext cx="977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+mj-lt"/>
              </a:rPr>
              <a:t>Output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007B9BC-C4B9-494D-AA06-8F113CD63690}"/>
              </a:ext>
            </a:extLst>
          </p:cNvPr>
          <p:cNvSpPr txBox="1"/>
          <p:nvPr/>
        </p:nvSpPr>
        <p:spPr>
          <a:xfrm>
            <a:off x="2640362" y="3674309"/>
            <a:ext cx="977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+mj-lt"/>
              </a:rPr>
              <a:t>Input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D167F5EF-8D2F-4E85-B0EB-4995BEDCBA54}"/>
              </a:ext>
            </a:extLst>
          </p:cNvPr>
          <p:cNvSpPr txBox="1"/>
          <p:nvPr/>
        </p:nvSpPr>
        <p:spPr>
          <a:xfrm>
            <a:off x="1702191" y="1573242"/>
            <a:ext cx="91944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/>
              <a:t>Credit score: an important indicator for everyone.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Evaluating manually: time-consuming and ineffective.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Financial data increasing continuously requires a big data platform to handle.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Feature engineering and ensemble learning are used to build predictive models.   </a:t>
            </a:r>
          </a:p>
          <a:p>
            <a:pPr marL="285750" indent="-285750">
              <a:buFontTx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482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9">
            <a:extLst>
              <a:ext uri="{FF2B5EF4-FFF2-40B4-BE49-F238E27FC236}">
                <a16:creationId xmlns:a16="http://schemas.microsoft.com/office/drawing/2014/main" id="{5066F8AE-A5C7-4B3E-B1DA-D0B624059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78E901E-6697-44E3-9533-1457FA4F04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15452A-514A-4763-9932-37302A8D6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0EC146D-CF08-4B34-ADEB-2F0296F9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1FBA240-87AB-400A-9292-7DC6F3E55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 useBgFill="1">
        <p:nvSpPr>
          <p:cNvPr id="36" name="Rectangle 15">
            <a:extLst>
              <a:ext uri="{FF2B5EF4-FFF2-40B4-BE49-F238E27FC236}">
                <a16:creationId xmlns:a16="http://schemas.microsoft.com/office/drawing/2014/main" id="{F733538D-5433-42E7-AA08-DC5FDEDA4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AF093B3E-F9A9-4ABC-8F0F-290E0887C7B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7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" name="Chỗ dành sẵn cho Số hiệu Bản chiếu 2">
            <a:extLst>
              <a:ext uri="{FF2B5EF4-FFF2-40B4-BE49-F238E27FC236}">
                <a16:creationId xmlns:a16="http://schemas.microsoft.com/office/drawing/2014/main" id="{52EE56A0-AD4E-4300-814D-7530C06A4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3901" y="5969000"/>
            <a:ext cx="542697" cy="279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59D3ED6-15A1-4F13-869E-D1FA5584FF26}" type="slidenum">
              <a:rPr lang="en-US" b="0" i="0" kern="120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4</a:t>
            </a:fld>
            <a:endParaRPr lang="en-US" b="0" i="0" kern="1200">
              <a:solidFill>
                <a:srgbClr val="FFFFFF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70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6AC8523-A7C4-4FF5-A4C6-2CA046C06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05061"/>
            <a:ext cx="9601196" cy="130386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b="1"/>
              <a:t>RELATED WORK</a:t>
            </a:r>
            <a:endParaRPr lang="en-US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08E3C1-A5F1-4A2C-85DE-835652E01081}"/>
              </a:ext>
            </a:extLst>
          </p:cNvPr>
          <p:cNvSpPr txBox="1"/>
          <p:nvPr/>
        </p:nvSpPr>
        <p:spPr>
          <a:xfrm>
            <a:off x="945823" y="1484722"/>
            <a:ext cx="9950775" cy="5078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b="1">
                <a:effectLst/>
                <a:latin typeface="+mj-lt"/>
              </a:rPr>
              <a:t>Machine Learning-Based </a:t>
            </a:r>
            <a:r>
              <a:rPr lang="en-US" b="1">
                <a:latin typeface="+mj-lt"/>
              </a:rPr>
              <a:t>Empirical Investigation For Credit Scoring In Vietnam’s Banking</a:t>
            </a:r>
          </a:p>
          <a:p>
            <a:pPr algn="ctr"/>
            <a:r>
              <a:rPr lang="en-US">
                <a:latin typeface="+mj-lt"/>
              </a:rPr>
              <a:t>(</a:t>
            </a:r>
            <a:r>
              <a:rPr lang="en-US" i="0">
                <a:effectLst/>
                <a:latin typeface="+mj-lt"/>
              </a:rPr>
              <a:t>Khanh Quoc Tran et al)</a:t>
            </a:r>
            <a:endParaRPr lang="en-US">
              <a:latin typeface="+mj-lt"/>
              <a:cs typeface="Times New 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+mj-lt"/>
              </a:rPr>
              <a:t>Kalapa Credit Score dataset</a:t>
            </a:r>
            <a:r>
              <a:rPr lang="en-US">
                <a:latin typeface="+mj-lt"/>
              </a:rPr>
              <a:t>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Using machine learning models</a:t>
            </a:r>
            <a:endParaRPr lang="en-US" b="0" i="0">
              <a:effectLst/>
              <a:latin typeface="+mj-lt"/>
              <a:cs typeface="Times New 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0">
                <a:effectLst/>
                <a:latin typeface="+mj-lt"/>
              </a:rPr>
              <a:t>83% F1-score with Random Forest</a:t>
            </a:r>
            <a:endParaRPr lang="en-US" i="0">
              <a:effectLst/>
              <a:latin typeface="+mj-lt"/>
              <a:cs typeface="Times New Roman"/>
            </a:endParaRPr>
          </a:p>
          <a:p>
            <a:pPr lvl="1" algn="ctr"/>
            <a:r>
              <a:rPr lang="en-US" b="1">
                <a:latin typeface="+mj-lt"/>
              </a:rPr>
              <a:t>A comparative assessment of </a:t>
            </a:r>
            <a:r>
              <a:rPr lang="en-US" b="1">
                <a:effectLst/>
                <a:latin typeface="+mj-lt"/>
              </a:rPr>
              <a:t>ensemble learning </a:t>
            </a:r>
            <a:r>
              <a:rPr lang="en-US" b="1">
                <a:latin typeface="+mj-lt"/>
              </a:rPr>
              <a:t>for credit scoring</a:t>
            </a:r>
            <a:endParaRPr lang="en-US" b="1">
              <a:latin typeface="+mj-lt"/>
              <a:cs typeface="Times New Roman"/>
            </a:endParaRPr>
          </a:p>
          <a:p>
            <a:pPr lvl="1" algn="ctr"/>
            <a:r>
              <a:rPr lang="en-US">
                <a:latin typeface="+mj-lt"/>
              </a:rPr>
              <a:t>(</a:t>
            </a:r>
            <a:r>
              <a:rPr lang="en-US" i="0" err="1">
                <a:effectLst/>
                <a:latin typeface="+mj-lt"/>
              </a:rPr>
              <a:t>GangWang</a:t>
            </a:r>
            <a:r>
              <a:rPr lang="en-US" i="0">
                <a:effectLst/>
                <a:latin typeface="+mj-lt"/>
              </a:rPr>
              <a:t> et al)</a:t>
            </a:r>
            <a:endParaRPr lang="en-US">
              <a:latin typeface="+mj-lt"/>
              <a:cs typeface="Times New 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+mj-lt"/>
              </a:rPr>
              <a:t>Australia, Germany, China </a:t>
            </a:r>
            <a:r>
              <a:rPr lang="en-US"/>
              <a:t>credit dataset.</a:t>
            </a:r>
            <a:endParaRPr lang="en-US">
              <a:cs typeface="Times New 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+mj-lt"/>
              </a:rPr>
              <a:t>Usi</a:t>
            </a:r>
            <a:r>
              <a:rPr lang="en-US">
                <a:latin typeface="+mj-lt"/>
              </a:rPr>
              <a:t>ng bagging, boosting, and stacking </a:t>
            </a:r>
            <a:endParaRPr lang="en-US" b="0" i="0">
              <a:effectLst/>
              <a:latin typeface="+mj-lt"/>
              <a:cs typeface="Times New 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0" i="0">
                <a:effectLst/>
                <a:latin typeface="+mj-lt"/>
              </a:rPr>
              <a:t>80.76% accuracy</a:t>
            </a:r>
            <a:endParaRPr lang="en-US" b="1">
              <a:latin typeface="+mj-lt"/>
            </a:endParaRPr>
          </a:p>
          <a:p>
            <a:pPr algn="ctr"/>
            <a:endParaRPr lang="en-US" b="1" i="0">
              <a:effectLst/>
              <a:latin typeface="+mj-lt"/>
            </a:endParaRPr>
          </a:p>
          <a:p>
            <a:pPr algn="ctr"/>
            <a:r>
              <a:rPr lang="en-US" b="1" i="0">
                <a:effectLst/>
                <a:latin typeface="+mj-lt"/>
              </a:rPr>
              <a:t>Credit scoring in the age of </a:t>
            </a:r>
            <a:r>
              <a:rPr lang="en-US" b="1">
                <a:effectLst/>
                <a:latin typeface="+mj-lt"/>
              </a:rPr>
              <a:t>Big Data </a:t>
            </a:r>
            <a:r>
              <a:rPr lang="en-US" b="1" i="0">
                <a:effectLst/>
                <a:latin typeface="+mj-lt"/>
              </a:rPr>
              <a:t>- A State-of-the-Art</a:t>
            </a:r>
            <a:endParaRPr lang="en-US" b="1" i="0">
              <a:effectLst/>
              <a:latin typeface="+mj-lt"/>
              <a:cs typeface="Times New Roman"/>
            </a:endParaRPr>
          </a:p>
          <a:p>
            <a:pPr lvl="1" algn="ctr"/>
            <a:r>
              <a:rPr lang="en-US">
                <a:latin typeface="+mj-lt"/>
              </a:rPr>
              <a:t>(</a:t>
            </a:r>
            <a:r>
              <a:rPr lang="en-US" i="0">
                <a:effectLst/>
                <a:latin typeface="+mj-lt"/>
              </a:rPr>
              <a:t>Youssef Tounsi et al.)</a:t>
            </a:r>
            <a:endParaRPr lang="en-US" i="0">
              <a:effectLst/>
              <a:latin typeface="+mj-lt"/>
              <a:cs typeface="Times New 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latin typeface="+mj-lt"/>
              </a:rPr>
              <a:t>Use social data instead of traditional financial data to evaluate credit score.</a:t>
            </a:r>
            <a:endParaRPr lang="en-US" b="0" i="0">
              <a:effectLst/>
              <a:latin typeface="+mj-lt"/>
              <a:cs typeface="Times New 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Survey on proposed methods are given to address this problem</a:t>
            </a:r>
            <a:endParaRPr lang="en-US">
              <a:cs typeface="Times New 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Apache Hadoop and </a:t>
            </a:r>
            <a:r>
              <a:rPr lang="en-US" err="1"/>
              <a:t>ApacheSpark</a:t>
            </a:r>
            <a:r>
              <a:rPr lang="en-US"/>
              <a:t> are considered to use.</a:t>
            </a:r>
            <a:endParaRPr lang="en-US" b="1">
              <a:latin typeface="+mj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b="1">
              <a:latin typeface="+mj-lt"/>
            </a:endParaRPr>
          </a:p>
          <a:p>
            <a:pPr lvl="1"/>
            <a:endParaRPr lang="en-US" i="0">
              <a:effectLst/>
              <a:latin typeface="+mj-lt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2D3C54F-402C-49CF-B4AF-F04D3207B875}"/>
              </a:ext>
            </a:extLst>
          </p:cNvPr>
          <p:cNvCxnSpPr>
            <a:cxnSpLocks/>
          </p:cNvCxnSpPr>
          <p:nvPr/>
        </p:nvCxnSpPr>
        <p:spPr>
          <a:xfrm flipH="1">
            <a:off x="942680" y="2912882"/>
            <a:ext cx="99539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1684B27-256E-4D74-8915-185AC85B9ADB}"/>
              </a:ext>
            </a:extLst>
          </p:cNvPr>
          <p:cNvCxnSpPr>
            <a:cxnSpLocks/>
          </p:cNvCxnSpPr>
          <p:nvPr/>
        </p:nvCxnSpPr>
        <p:spPr>
          <a:xfrm flipH="1">
            <a:off x="942680" y="4453276"/>
            <a:ext cx="99539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E9A062D2-0423-4158-ACB4-26C5D8D80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z="1400" smtClean="0"/>
              <a:t>5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925629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E36B-7261-412C-B6E6-EA2535AF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14487"/>
            <a:ext cx="9601196" cy="130386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b="1"/>
              <a:t>METHODOLOGIES</a:t>
            </a:r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72BE4A-A598-4457-B38A-21178F1214D6}"/>
              </a:ext>
            </a:extLst>
          </p:cNvPr>
          <p:cNvSpPr txBox="1"/>
          <p:nvPr/>
        </p:nvSpPr>
        <p:spPr>
          <a:xfrm>
            <a:off x="941362" y="1472563"/>
            <a:ext cx="277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 b="1"/>
              <a:t>Big data platform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B75DF1-6A4F-499C-A9EC-BEBBDCE11AFE}"/>
              </a:ext>
            </a:extLst>
          </p:cNvPr>
          <p:cNvSpPr/>
          <p:nvPr/>
        </p:nvSpPr>
        <p:spPr>
          <a:xfrm>
            <a:off x="1295402" y="2688765"/>
            <a:ext cx="1734532" cy="229071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r>
              <a:rPr lang="en-US" b="1"/>
              <a:t>5 V’s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Volume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Variety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Vecolity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Veracity</a:t>
            </a:r>
          </a:p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A47AF35-B331-4643-AA41-90A95754CFF5}"/>
              </a:ext>
            </a:extLst>
          </p:cNvPr>
          <p:cNvCxnSpPr>
            <a:cxnSpLocks/>
            <a:stCxn id="4" idx="3"/>
            <a:endCxn id="19" idx="1"/>
          </p:cNvCxnSpPr>
          <p:nvPr/>
        </p:nvCxnSpPr>
        <p:spPr>
          <a:xfrm flipV="1">
            <a:off x="3029934" y="3834121"/>
            <a:ext cx="243307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72B4F79-4A64-405E-8218-C12BF22A0D3A}"/>
              </a:ext>
            </a:extLst>
          </p:cNvPr>
          <p:cNvSpPr txBox="1"/>
          <p:nvPr/>
        </p:nvSpPr>
        <p:spPr>
          <a:xfrm>
            <a:off x="1460371" y="2134767"/>
            <a:ext cx="1404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Big Data</a:t>
            </a:r>
          </a:p>
        </p:txBody>
      </p:sp>
      <p:pic>
        <p:nvPicPr>
          <p:cNvPr id="19" name="Picture 18" descr="A picture containing diagram&#10;&#10;Description automatically generated">
            <a:extLst>
              <a:ext uri="{FF2B5EF4-FFF2-40B4-BE49-F238E27FC236}">
                <a16:creationId xmlns:a16="http://schemas.microsoft.com/office/drawing/2014/main" id="{381015F8-710B-425D-830A-7638F28049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008" y="2819567"/>
            <a:ext cx="5229955" cy="202910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BE016F7-685D-4D13-81A4-5D2817543A34}"/>
              </a:ext>
            </a:extLst>
          </p:cNvPr>
          <p:cNvSpPr txBox="1"/>
          <p:nvPr/>
        </p:nvSpPr>
        <p:spPr>
          <a:xfrm>
            <a:off x="6928701" y="4979478"/>
            <a:ext cx="2714919" cy="371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Fig1</a:t>
            </a:r>
            <a:r>
              <a:rPr lang="en-US"/>
              <a:t>: Spark structure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D81BAE-BA38-4E94-A241-D4E94ACA2C47}"/>
              </a:ext>
            </a:extLst>
          </p:cNvPr>
          <p:cNvSpPr txBox="1"/>
          <p:nvPr/>
        </p:nvSpPr>
        <p:spPr>
          <a:xfrm>
            <a:off x="3129699" y="3127953"/>
            <a:ext cx="2333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rial" panose="020B0604020202020204" pitchFamily="34" charset="0"/>
              </a:rPr>
              <a:t>How to utilize big data ?</a:t>
            </a:r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24513ED2-079D-499A-8331-801035320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917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E36B-7261-412C-B6E6-EA2535AF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14487"/>
            <a:ext cx="9601196" cy="130386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b="1"/>
              <a:t>METHODOLOGIES</a:t>
            </a:r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C608ED-76C8-4294-AA6B-B29E8881651E}"/>
              </a:ext>
            </a:extLst>
          </p:cNvPr>
          <p:cNvSpPr txBox="1"/>
          <p:nvPr/>
        </p:nvSpPr>
        <p:spPr>
          <a:xfrm>
            <a:off x="846438" y="1426895"/>
            <a:ext cx="277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 startAt="2"/>
            </a:pPr>
            <a:r>
              <a:rPr lang="en-US" b="1"/>
              <a:t>Ensemble 	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83E90D-33FB-4418-BAE6-C84B16E6CF25}"/>
              </a:ext>
            </a:extLst>
          </p:cNvPr>
          <p:cNvSpPr txBox="1"/>
          <p:nvPr/>
        </p:nvSpPr>
        <p:spPr>
          <a:xfrm>
            <a:off x="1295402" y="5274065"/>
            <a:ext cx="258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Fig2</a:t>
            </a:r>
            <a:r>
              <a:rPr lang="en-US"/>
              <a:t>: Decision Tree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DA964E-91C7-44C8-80DA-C915BA7E8138}"/>
              </a:ext>
            </a:extLst>
          </p:cNvPr>
          <p:cNvSpPr txBox="1"/>
          <p:nvPr/>
        </p:nvSpPr>
        <p:spPr>
          <a:xfrm>
            <a:off x="5355386" y="5274065"/>
            <a:ext cx="2582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Fig3</a:t>
            </a:r>
            <a:r>
              <a:rPr lang="en-US"/>
              <a:t>: Random Forest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0789FC-D6C0-49BE-A5E9-C9355938B08B}"/>
              </a:ext>
            </a:extLst>
          </p:cNvPr>
          <p:cNvSpPr txBox="1"/>
          <p:nvPr/>
        </p:nvSpPr>
        <p:spPr>
          <a:xfrm>
            <a:off x="8358813" y="5274065"/>
            <a:ext cx="3080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Fig4</a:t>
            </a:r>
            <a:r>
              <a:rPr lang="en-US"/>
              <a:t>: Gradient Boosted Trees</a:t>
            </a:r>
          </a:p>
        </p:txBody>
      </p:sp>
      <p:sp>
        <p:nvSpPr>
          <p:cNvPr id="20" name="Thought Bubble: Cloud 19">
            <a:extLst>
              <a:ext uri="{FF2B5EF4-FFF2-40B4-BE49-F238E27FC236}">
                <a16:creationId xmlns:a16="http://schemas.microsoft.com/office/drawing/2014/main" id="{5B1DF2C1-DCF0-4F2E-BC91-0831ABE115F3}"/>
              </a:ext>
            </a:extLst>
          </p:cNvPr>
          <p:cNvSpPr/>
          <p:nvPr/>
        </p:nvSpPr>
        <p:spPr>
          <a:xfrm>
            <a:off x="5940433" y="1796227"/>
            <a:ext cx="1640365" cy="613586"/>
          </a:xfrm>
          <a:prstGeom prst="cloudCallou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Bagging</a:t>
            </a:r>
          </a:p>
        </p:txBody>
      </p:sp>
      <p:sp>
        <p:nvSpPr>
          <p:cNvPr id="21" name="Thought Bubble: Cloud 20">
            <a:extLst>
              <a:ext uri="{FF2B5EF4-FFF2-40B4-BE49-F238E27FC236}">
                <a16:creationId xmlns:a16="http://schemas.microsoft.com/office/drawing/2014/main" id="{AD25F95D-322B-4975-AA34-438D94B866A4}"/>
              </a:ext>
            </a:extLst>
          </p:cNvPr>
          <p:cNvSpPr/>
          <p:nvPr/>
        </p:nvSpPr>
        <p:spPr>
          <a:xfrm>
            <a:off x="9214533" y="1784686"/>
            <a:ext cx="1640365" cy="613586"/>
          </a:xfrm>
          <a:prstGeom prst="cloudCallou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Boosting</a:t>
            </a:r>
          </a:p>
        </p:txBody>
      </p:sp>
      <p:pic>
        <p:nvPicPr>
          <p:cNvPr id="7" name="Hình ảnh 9">
            <a:extLst>
              <a:ext uri="{FF2B5EF4-FFF2-40B4-BE49-F238E27FC236}">
                <a16:creationId xmlns:a16="http://schemas.microsoft.com/office/drawing/2014/main" id="{EECCD20A-65F0-4172-BAB1-7FB7A845B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9667" y="2557895"/>
            <a:ext cx="3076575" cy="2582140"/>
          </a:xfrm>
          <a:prstGeom prst="rect">
            <a:avLst/>
          </a:prstGeom>
        </p:spPr>
      </p:pic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A3D550C2-158B-48F7-834E-92019993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7</a:t>
            </a:fld>
            <a:endParaRPr lang="en-US"/>
          </a:p>
        </p:txBody>
      </p:sp>
      <p:pic>
        <p:nvPicPr>
          <p:cNvPr id="13" name="Hình ảnh 12">
            <a:extLst>
              <a:ext uri="{FF2B5EF4-FFF2-40B4-BE49-F238E27FC236}">
                <a16:creationId xmlns:a16="http://schemas.microsoft.com/office/drawing/2014/main" id="{36E540B3-C956-4B75-AFBF-8A504F53FE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327" y="2444084"/>
            <a:ext cx="4394501" cy="2291806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1E24A5F5-561B-4BC8-92AC-42F36821E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931" y="2444084"/>
            <a:ext cx="3555882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124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DE36B-7261-412C-B6E6-EA2535AF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14487"/>
            <a:ext cx="9601196" cy="130386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400" b="1"/>
              <a:t>METHODOLOGIES</a:t>
            </a:r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C608ED-76C8-4294-AA6B-B29E8881651E}"/>
              </a:ext>
            </a:extLst>
          </p:cNvPr>
          <p:cNvSpPr txBox="1"/>
          <p:nvPr/>
        </p:nvSpPr>
        <p:spPr>
          <a:xfrm>
            <a:off x="841822" y="1397092"/>
            <a:ext cx="3940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 startAt="3"/>
            </a:pPr>
            <a:r>
              <a:rPr lang="en-US" b="1"/>
              <a:t>Feature Importance Extraction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1D146D-EEF5-4B10-A1C0-204E4B0673C2}"/>
              </a:ext>
            </a:extLst>
          </p:cNvPr>
          <p:cNvSpPr txBox="1"/>
          <p:nvPr/>
        </p:nvSpPr>
        <p:spPr>
          <a:xfrm>
            <a:off x="1201538" y="1918354"/>
            <a:ext cx="9526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 higher the value of probability, the more important the feature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ym typeface="Wingdings" panose="05000000000000000000" pitchFamily="2" charset="2"/>
              </a:rPr>
              <a:t>Features extracted from best tree-based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ym typeface="Wingdings" panose="05000000000000000000" pitchFamily="2" charset="2"/>
              </a:rPr>
              <a:t>Depend on the probability  Chooses important features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5A13EB-3353-468F-90B6-F2C40733D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2789" y="2887411"/>
            <a:ext cx="6846615" cy="29331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1E995A-E2D2-4B3C-8D02-DA2BCA138B6C}"/>
              </a:ext>
            </a:extLst>
          </p:cNvPr>
          <p:cNvSpPr txBox="1"/>
          <p:nvPr/>
        </p:nvSpPr>
        <p:spPr>
          <a:xfrm>
            <a:off x="3588470" y="5820554"/>
            <a:ext cx="5015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Fig5</a:t>
            </a:r>
            <a:r>
              <a:rPr lang="en-US"/>
              <a:t>: Formula of </a:t>
            </a:r>
            <a:r>
              <a:rPr lang="en-US">
                <a:sym typeface="Wingdings" panose="05000000000000000000" pitchFamily="2" charset="2"/>
              </a:rPr>
              <a:t> probability of  important features</a:t>
            </a:r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1243BF3D-DCAC-4902-9F48-3411485C8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685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F29F-E661-4F11-B7DE-BEFD1644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14487"/>
            <a:ext cx="9601196" cy="130386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b="1"/>
              <a:t>EXPERIMENT</a:t>
            </a:r>
            <a:br>
              <a:rPr lang="en-US" sz="2400" b="1"/>
            </a:br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AD854-77FF-40C5-8BE5-D50C4E44C075}"/>
              </a:ext>
            </a:extLst>
          </p:cNvPr>
          <p:cNvSpPr txBox="1"/>
          <p:nvPr/>
        </p:nvSpPr>
        <p:spPr>
          <a:xfrm>
            <a:off x="832952" y="1243271"/>
            <a:ext cx="493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/>
            </a:pPr>
            <a:r>
              <a:rPr lang="en-US" b="1"/>
              <a:t>Dataset and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4EB10D-7342-464F-B176-B826DA3EE536}"/>
              </a:ext>
            </a:extLst>
          </p:cNvPr>
          <p:cNvSpPr txBox="1"/>
          <p:nvPr/>
        </p:nvSpPr>
        <p:spPr>
          <a:xfrm>
            <a:off x="1061267" y="1652747"/>
            <a:ext cx="7226429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Kalapa Credit Score: </a:t>
            </a: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193 attributes (117 attributes, missing rate &gt;= 50%)</a:t>
            </a:r>
            <a:endParaRPr lang="en-US">
              <a:cs typeface="Times New Roman"/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Remove columns with &gt;= 90% missing rate</a:t>
            </a:r>
            <a:endParaRPr lang="en-US">
              <a:cs typeface="Times New Roman"/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53030 rows (68% label 0)</a:t>
            </a:r>
            <a:endParaRPr lang="en-US">
              <a:cs typeface="Times New Roman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05432B9-443D-4593-8051-04EFBA501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593235"/>
              </p:ext>
            </p:extLst>
          </p:nvPr>
        </p:nvGraphicFramePr>
        <p:xfrm>
          <a:off x="865702" y="2968936"/>
          <a:ext cx="4690619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676">
                  <a:extLst>
                    <a:ext uri="{9D8B030D-6E8A-4147-A177-3AD203B41FA5}">
                      <a16:colId xmlns:a16="http://schemas.microsoft.com/office/drawing/2014/main" val="2755689166"/>
                    </a:ext>
                  </a:extLst>
                </a:gridCol>
                <a:gridCol w="1187954">
                  <a:extLst>
                    <a:ext uri="{9D8B030D-6E8A-4147-A177-3AD203B41FA5}">
                      <a16:colId xmlns:a16="http://schemas.microsoft.com/office/drawing/2014/main" val="1913536027"/>
                    </a:ext>
                  </a:extLst>
                </a:gridCol>
                <a:gridCol w="2319989">
                  <a:extLst>
                    <a:ext uri="{9D8B030D-6E8A-4147-A177-3AD203B41FA5}">
                      <a16:colId xmlns:a16="http://schemas.microsoft.com/office/drawing/2014/main" val="38836824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Attribute</a:t>
                      </a:r>
                    </a:p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group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# of attributes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189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Date and </a:t>
                      </a:r>
                    </a:p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datetime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solidFill>
                            <a:sysClr val="windowText" lastClr="000000"/>
                          </a:solidFill>
                          <a:latin typeface="Times New Roman"/>
                        </a:rPr>
                        <a:t>Correct datatype and format</a:t>
                      </a:r>
                      <a:endParaRPr lang="en-US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44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Unicode </a:t>
                      </a:r>
                    </a:p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ones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kern="1200" noProof="0">
                          <a:solidFill>
                            <a:sysClr val="windowText" lastClr="000000"/>
                          </a:solidFill>
                          <a:effectLst/>
                        </a:rPr>
                        <a:t>Normalize the values</a:t>
                      </a:r>
                      <a:endParaRPr lang="vi-VN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160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The rest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135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---------------------------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703033"/>
                  </a:ext>
                </a:extLst>
              </a:tr>
            </a:tbl>
          </a:graphicData>
        </a:graphic>
      </p:graphicFrame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E51AB555-7190-4396-B0E4-EEB070D27DFE}"/>
              </a:ext>
            </a:extLst>
          </p:cNvPr>
          <p:cNvSpPr txBox="1"/>
          <p:nvPr/>
        </p:nvSpPr>
        <p:spPr>
          <a:xfrm>
            <a:off x="6096000" y="3287674"/>
            <a:ext cx="5647426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['Field_34', '</a:t>
            </a:r>
            <a:r>
              <a:rPr lang="en-US" sz="1400" err="1"/>
              <a:t>ngaySinh</a:t>
            </a:r>
            <a:r>
              <a:rPr lang="en-US" sz="1400"/>
              <a:t>'] -&gt; “%</a:t>
            </a:r>
            <a:r>
              <a:rPr lang="en-US" sz="1400" err="1"/>
              <a:t>Y%m</a:t>
            </a:r>
            <a:r>
              <a:rPr lang="en-US" sz="1400"/>
              <a:t>”</a:t>
            </a:r>
            <a:br>
              <a:rPr lang="en-US" sz="1400"/>
            </a:br>
            <a:r>
              <a:rPr lang="en-US" sz="1400"/>
              <a:t>["Field_{}".format(</a:t>
            </a:r>
            <a:r>
              <a:rPr lang="en-US" sz="1400" err="1"/>
              <a:t>i</a:t>
            </a:r>
            <a:r>
              <a:rPr lang="en-US" sz="1400"/>
              <a:t>) for </a:t>
            </a:r>
            <a:r>
              <a:rPr lang="en-US" sz="1400" err="1"/>
              <a:t>i</a:t>
            </a:r>
            <a:r>
              <a:rPr lang="en-US" sz="1400"/>
              <a:t> in [1, 2, 43, 44]] -&gt;  "%Y-%m-%</a:t>
            </a:r>
            <a:r>
              <a:rPr lang="en-US" sz="1400" err="1"/>
              <a:t>dT%H</a:t>
            </a:r>
            <a:r>
              <a:rPr lang="en-US" sz="1400"/>
              <a:t>:%M:%S"</a:t>
            </a:r>
            <a:br>
              <a:rPr lang="en-US" sz="1400"/>
            </a:br>
            <a:r>
              <a:rPr lang="en-US" sz="1400"/>
              <a:t>["Field_{}".format(</a:t>
            </a:r>
            <a:r>
              <a:rPr lang="en-US" sz="1400" err="1"/>
              <a:t>i</a:t>
            </a:r>
            <a:r>
              <a:rPr lang="en-US" sz="1400"/>
              <a:t>) for </a:t>
            </a:r>
            <a:r>
              <a:rPr lang="en-US" sz="1400" err="1"/>
              <a:t>i</a:t>
            </a:r>
            <a:r>
              <a:rPr lang="en-US" sz="1400"/>
              <a:t> in [5, 6, 7, 8, 9, 11, 15, 25, 32, 33, 35, 40]] -&gt; "%Y-%m-%d"</a:t>
            </a:r>
            <a:endParaRPr lang="en-US" sz="1400">
              <a:cs typeface="Times New Roman"/>
            </a:endParaRP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1243913F-EBAB-419F-B9CF-D687571E46A5}"/>
              </a:ext>
            </a:extLst>
          </p:cNvPr>
          <p:cNvSpPr txBox="1"/>
          <p:nvPr/>
        </p:nvSpPr>
        <p:spPr>
          <a:xfrm>
            <a:off x="6130931" y="4378200"/>
            <a:ext cx="521610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"Zero" →  0,  "One" →  1, "Two" →  2, "Three" -&gt; 3, "Four" →  4</a:t>
            </a:r>
            <a:br>
              <a:rPr lang="en-US" sz="1400"/>
            </a:br>
            <a:r>
              <a:rPr lang="en-US" sz="1400"/>
              <a:t>'</a:t>
            </a:r>
            <a:r>
              <a:rPr lang="en-US" sz="1400" err="1"/>
              <a:t>thành</a:t>
            </a:r>
            <a:r>
              <a:rPr lang="en-US" sz="1400"/>
              <a:t> </a:t>
            </a:r>
            <a:r>
              <a:rPr lang="en-US" sz="1400" err="1"/>
              <a:t>phố</a:t>
            </a:r>
            <a:r>
              <a:rPr lang="en-US" sz="1400"/>
              <a:t> Hà </a:t>
            </a:r>
            <a:r>
              <a:rPr lang="en-US" sz="1400" err="1"/>
              <a:t>Nội</a:t>
            </a:r>
            <a:r>
              <a:rPr lang="en-US" sz="1400"/>
              <a:t>' or “Ha </a:t>
            </a:r>
            <a:r>
              <a:rPr lang="en-US" sz="1400" err="1"/>
              <a:t>nội</a:t>
            </a:r>
            <a:r>
              <a:rPr lang="en-US" sz="1400"/>
              <a:t> city” → “</a:t>
            </a:r>
            <a:r>
              <a:rPr lang="en-US" sz="1400" err="1"/>
              <a:t>hà</a:t>
            </a:r>
            <a:r>
              <a:rPr lang="en-US" sz="1400"/>
              <a:t> </a:t>
            </a:r>
            <a:r>
              <a:rPr lang="en-US" sz="1400" err="1"/>
              <a:t>nội</a:t>
            </a:r>
            <a:r>
              <a:rPr lang="en-US" sz="1400"/>
              <a:t>”</a:t>
            </a:r>
            <a:endParaRPr lang="en-US" sz="1400">
              <a:cs typeface="Times New Roman"/>
            </a:endParaRPr>
          </a:p>
        </p:txBody>
      </p:sp>
      <p:pic>
        <p:nvPicPr>
          <p:cNvPr id="6" name="Đồ họa 6" descr="Arrow Up with solid fill">
            <a:extLst>
              <a:ext uri="{FF2B5EF4-FFF2-40B4-BE49-F238E27FC236}">
                <a16:creationId xmlns:a16="http://schemas.microsoft.com/office/drawing/2014/main" id="{C923681C-8BD3-4874-9B71-088FE9601A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140000">
            <a:off x="5411379" y="3494626"/>
            <a:ext cx="914400" cy="663287"/>
          </a:xfrm>
          <a:prstGeom prst="rect">
            <a:avLst/>
          </a:prstGeom>
        </p:spPr>
      </p:pic>
      <p:pic>
        <p:nvPicPr>
          <p:cNvPr id="11" name="Đồ họa 6" descr="Arrow Up with solid fill">
            <a:extLst>
              <a:ext uri="{FF2B5EF4-FFF2-40B4-BE49-F238E27FC236}">
                <a16:creationId xmlns:a16="http://schemas.microsoft.com/office/drawing/2014/main" id="{6F78C6AC-29FE-46CD-97DA-8A7138575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6060000">
            <a:off x="5411378" y="4221990"/>
            <a:ext cx="914400" cy="663287"/>
          </a:xfrm>
          <a:prstGeom prst="rect">
            <a:avLst/>
          </a:prstGeom>
        </p:spPr>
      </p:pic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50752002-4BF6-427A-9421-0698522C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64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F29F-E661-4F11-B7DE-BEFD1644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14487"/>
            <a:ext cx="9601196" cy="130386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b="1"/>
              <a:t>EXPERIMENT</a:t>
            </a:r>
            <a:br>
              <a:rPr lang="en-US" sz="2400" b="1"/>
            </a:br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3FA02-569C-4754-85B2-CE1A3EA65477}"/>
              </a:ext>
            </a:extLst>
          </p:cNvPr>
          <p:cNvSpPr txBox="1"/>
          <p:nvPr/>
        </p:nvSpPr>
        <p:spPr>
          <a:xfrm>
            <a:off x="920480" y="1266420"/>
            <a:ext cx="277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UcPeriod" startAt="2"/>
            </a:pPr>
            <a:r>
              <a:rPr lang="en-US" b="1"/>
              <a:t>Feature Engineering</a:t>
            </a: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17CC9A08-2A21-4000-83AC-77F64505E110}"/>
              </a:ext>
            </a:extLst>
          </p:cNvPr>
          <p:cNvSpPr txBox="1"/>
          <p:nvPr/>
        </p:nvSpPr>
        <p:spPr>
          <a:xfrm>
            <a:off x="1267953" y="1754168"/>
            <a:ext cx="6077113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Generating new features:</a:t>
            </a:r>
            <a:br>
              <a:rPr lang="en-US"/>
            </a:br>
            <a:r>
              <a:rPr lang="en-US"/>
              <a:t>    - Datetime: </a:t>
            </a:r>
            <a:r>
              <a:rPr lang="en-US" b="1"/>
              <a:t>DT_A_B</a:t>
            </a:r>
            <a:r>
              <a:rPr lang="en-US"/>
              <a:t> = </a:t>
            </a:r>
            <a:r>
              <a:rPr lang="en-US" err="1"/>
              <a:t>Field_A</a:t>
            </a:r>
            <a:r>
              <a:rPr lang="en-US"/>
              <a:t> - </a:t>
            </a:r>
            <a:r>
              <a:rPr lang="en-US" err="1"/>
              <a:t>Field_B</a:t>
            </a:r>
            <a:r>
              <a:rPr lang="en-US"/>
              <a:t> (seconds)</a:t>
            </a:r>
            <a:br>
              <a:rPr lang="en-US"/>
            </a:br>
            <a:r>
              <a:rPr lang="en-US"/>
              <a:t>    - Date:</a:t>
            </a:r>
            <a:br>
              <a:rPr lang="en-US"/>
            </a:br>
            <a:r>
              <a:rPr lang="en-US"/>
              <a:t>        + </a:t>
            </a:r>
            <a:r>
              <a:rPr lang="en-US" b="1"/>
              <a:t>DT_C_D</a:t>
            </a:r>
            <a:r>
              <a:rPr lang="en-US"/>
              <a:t> = </a:t>
            </a:r>
            <a:r>
              <a:rPr lang="en-US" err="1"/>
              <a:t>Field_C</a:t>
            </a:r>
            <a:r>
              <a:rPr lang="en-US"/>
              <a:t> - </a:t>
            </a:r>
            <a:r>
              <a:rPr lang="en-US" err="1"/>
              <a:t>Field_D</a:t>
            </a:r>
            <a:r>
              <a:rPr lang="en-US"/>
              <a:t> (days)</a:t>
            </a:r>
            <a:br>
              <a:rPr lang="en-US"/>
            </a:br>
            <a:r>
              <a:rPr lang="en-US"/>
              <a:t>        + </a:t>
            </a:r>
            <a:r>
              <a:rPr lang="en-US" b="1" err="1"/>
              <a:t>days_from_now</a:t>
            </a:r>
            <a:r>
              <a:rPr lang="en-US"/>
              <a:t> = current processing date – </a:t>
            </a:r>
            <a:r>
              <a:rPr lang="en-US" err="1"/>
              <a:t>Field_X</a:t>
            </a:r>
            <a:br>
              <a:rPr lang="en-US"/>
            </a:br>
            <a:r>
              <a:rPr lang="en-US"/>
              <a:t>        + </a:t>
            </a:r>
            <a:r>
              <a:rPr lang="en-US" b="1"/>
              <a:t>age</a:t>
            </a:r>
            <a:r>
              <a:rPr lang="en-US"/>
              <a:t>: 2021 – year('</a:t>
            </a:r>
            <a:r>
              <a:rPr lang="en-US" err="1"/>
              <a:t>ngaySinh</a:t>
            </a:r>
            <a:r>
              <a:rPr lang="en-US"/>
              <a:t>')</a:t>
            </a:r>
            <a:br>
              <a:rPr lang="en-US"/>
            </a:br>
            <a:r>
              <a:rPr lang="en-US"/>
              <a:t>        + </a:t>
            </a:r>
            <a:r>
              <a:rPr lang="en-US" b="1" err="1"/>
              <a:t>x_start_end</a:t>
            </a:r>
            <a:r>
              <a:rPr lang="en-US"/>
              <a:t> = </a:t>
            </a:r>
            <a:r>
              <a:rPr lang="en-US" err="1"/>
              <a:t>x_srartDate</a:t>
            </a:r>
            <a:r>
              <a:rPr lang="en-US"/>
              <a:t> – </a:t>
            </a:r>
            <a:r>
              <a:rPr lang="en-US" err="1"/>
              <a:t>x_endDate</a:t>
            </a:r>
            <a:br>
              <a:rPr lang="en-US"/>
            </a:br>
            <a:r>
              <a:rPr lang="en-US"/>
              <a:t>        + </a:t>
            </a:r>
            <a:r>
              <a:rPr lang="en-US" b="1" err="1"/>
              <a:t>x_y_startDate</a:t>
            </a:r>
            <a:r>
              <a:rPr lang="en-US"/>
              <a:t> = </a:t>
            </a:r>
            <a:r>
              <a:rPr lang="en-US" err="1"/>
              <a:t>x_srartDate</a:t>
            </a:r>
            <a:r>
              <a:rPr lang="en-US"/>
              <a:t> – </a:t>
            </a:r>
            <a:r>
              <a:rPr lang="en-US" err="1"/>
              <a:t>y_startDate</a:t>
            </a:r>
            <a:br>
              <a:rPr lang="en-US"/>
            </a:br>
            <a:r>
              <a:rPr lang="en-US"/>
              <a:t>        + </a:t>
            </a:r>
            <a:r>
              <a:rPr lang="en-US" b="1" err="1"/>
              <a:t>x_y_endDate</a:t>
            </a:r>
            <a:r>
              <a:rPr lang="en-US"/>
              <a:t> = </a:t>
            </a:r>
            <a:r>
              <a:rPr lang="en-US" err="1"/>
              <a:t>x_endDate</a:t>
            </a:r>
            <a:r>
              <a:rPr lang="en-US"/>
              <a:t> – </a:t>
            </a:r>
            <a:r>
              <a:rPr lang="en-US" err="1"/>
              <a:t>y_endDate</a:t>
            </a:r>
            <a:endParaRPr lang="en-US" err="1">
              <a:cs typeface="Times New Roman"/>
            </a:endParaRPr>
          </a:p>
          <a:p>
            <a:r>
              <a:rPr lang="en-US">
                <a:ea typeface="+mn-lt"/>
                <a:cs typeface="+mn-lt"/>
              </a:rPr>
              <a:t>        + weekend, weekday or not.</a:t>
            </a:r>
            <a:br>
              <a:rPr lang="en-US"/>
            </a:br>
            <a:r>
              <a:rPr lang="en-US"/>
              <a:t>    - </a:t>
            </a:r>
            <a:r>
              <a:rPr lang="en-US" err="1"/>
              <a:t>Categoricals</a:t>
            </a:r>
            <a:r>
              <a:rPr lang="en-US"/>
              <a:t>:</a:t>
            </a:r>
            <a:br>
              <a:rPr lang="en-US"/>
            </a:br>
            <a:r>
              <a:rPr lang="en-US"/>
              <a:t>        </a:t>
            </a:r>
            <a:r>
              <a:rPr lang="en-US" b="1"/>
              <a:t>gender </a:t>
            </a:r>
            <a:r>
              <a:rPr lang="en-US"/>
              <a:t>= </a:t>
            </a:r>
            <a:r>
              <a:rPr lang="en-US" err="1"/>
              <a:t>gioiTinh</a:t>
            </a:r>
            <a:r>
              <a:rPr lang="en-US"/>
              <a:t> &amp; </a:t>
            </a:r>
            <a:r>
              <a:rPr lang="en-US" err="1"/>
              <a:t>info_social_sex</a:t>
            </a:r>
            <a:endParaRPr lang="en-US">
              <a:cs typeface="Times New Roman"/>
            </a:endParaRPr>
          </a:p>
        </p:txBody>
      </p:sp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41903D46-6CE2-4469-AE5D-6A814AF50388}"/>
              </a:ext>
            </a:extLst>
          </p:cNvPr>
          <p:cNvSpPr txBox="1"/>
          <p:nvPr/>
        </p:nvSpPr>
        <p:spPr>
          <a:xfrm>
            <a:off x="1144438" y="5357004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48 columns removed</a:t>
            </a:r>
            <a:br>
              <a:rPr lang="en-US"/>
            </a:br>
            <a:r>
              <a:rPr lang="en-US"/>
              <a:t>81 columns added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23A2422-B642-45E8-B0C1-4E481E5D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90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F29F-E661-4F11-B7DE-BEFD1644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14487"/>
            <a:ext cx="9601196" cy="130386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b="1"/>
              <a:t>EXPERIMENT</a:t>
            </a:r>
            <a:br>
              <a:rPr lang="en-US" sz="2400" b="1"/>
            </a:br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3FA02-569C-4754-85B2-CE1A3EA65477}"/>
              </a:ext>
            </a:extLst>
          </p:cNvPr>
          <p:cNvSpPr txBox="1"/>
          <p:nvPr/>
        </p:nvSpPr>
        <p:spPr>
          <a:xfrm>
            <a:off x="869055" y="1256689"/>
            <a:ext cx="277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C.   Input Preparation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A3CE03C-BCDC-4699-96A0-8E531CA5C93C}"/>
              </a:ext>
            </a:extLst>
          </p:cNvPr>
          <p:cNvSpPr/>
          <p:nvPr/>
        </p:nvSpPr>
        <p:spPr>
          <a:xfrm>
            <a:off x="1245568" y="3827918"/>
            <a:ext cx="1164287" cy="95210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Cleaned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D949B9-036E-49C8-8ADF-FCC2A28F38CA}"/>
              </a:ext>
            </a:extLst>
          </p:cNvPr>
          <p:cNvSpPr/>
          <p:nvPr/>
        </p:nvSpPr>
        <p:spPr>
          <a:xfrm>
            <a:off x="2784127" y="2218267"/>
            <a:ext cx="2318994" cy="400580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D812F0-F89D-4741-AC4E-A93D2DB92523}"/>
              </a:ext>
            </a:extLst>
          </p:cNvPr>
          <p:cNvSpPr/>
          <p:nvPr/>
        </p:nvSpPr>
        <p:spPr>
          <a:xfrm>
            <a:off x="2898820" y="2302520"/>
            <a:ext cx="2089608" cy="14800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Interger: {Field_82,</a:t>
            </a:r>
          </a:p>
          <a:p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birth_month}</a:t>
            </a:r>
          </a:p>
          <a:p>
            <a:pPr algn="ctr"/>
            <a:endParaRPr 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CD8C15-11E3-4FBE-8450-2A8F46D59B19}"/>
              </a:ext>
            </a:extLst>
          </p:cNvPr>
          <p:cNvSpPr/>
          <p:nvPr/>
        </p:nvSpPr>
        <p:spPr>
          <a:xfrm>
            <a:off x="2932487" y="3985204"/>
            <a:ext cx="2044446" cy="203619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84C5CF-A36D-4137-A866-05AF8CCFF5F2}"/>
              </a:ext>
            </a:extLst>
          </p:cNvPr>
          <p:cNvSpPr txBox="1"/>
          <p:nvPr/>
        </p:nvSpPr>
        <p:spPr>
          <a:xfrm>
            <a:off x="3016200" y="3985204"/>
            <a:ext cx="2118087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</a:p>
          <a:p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6A927D-2864-4C43-975C-8A37D807B7F2}"/>
              </a:ext>
            </a:extLst>
          </p:cNvPr>
          <p:cNvSpPr/>
          <p:nvPr/>
        </p:nvSpPr>
        <p:spPr>
          <a:xfrm>
            <a:off x="3256491" y="4739919"/>
            <a:ext cx="1451914" cy="5844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Skew &gt;= - 2 and Kurtosis &lt;=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C6E7A8-9D8D-45B9-8938-0BE5E928B10C}"/>
              </a:ext>
            </a:extLst>
          </p:cNvPr>
          <p:cNvSpPr txBox="1"/>
          <p:nvPr/>
        </p:nvSpPr>
        <p:spPr>
          <a:xfrm>
            <a:off x="5103121" y="2658536"/>
            <a:ext cx="1555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StringIndexer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69870A-4F0B-4267-B3D6-18A9844CFEC6}"/>
              </a:ext>
            </a:extLst>
          </p:cNvPr>
          <p:cNvSpPr txBox="1"/>
          <p:nvPr/>
        </p:nvSpPr>
        <p:spPr>
          <a:xfrm>
            <a:off x="5105087" y="3074065"/>
            <a:ext cx="1555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OneHotEncoder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00EA50-A356-49DA-9745-FB0FB0F7B4E8}"/>
              </a:ext>
            </a:extLst>
          </p:cNvPr>
          <p:cNvSpPr/>
          <p:nvPr/>
        </p:nvSpPr>
        <p:spPr>
          <a:xfrm>
            <a:off x="6400610" y="2241301"/>
            <a:ext cx="1743221" cy="40022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OneHotEncoder</a:t>
            </a:r>
            <a:endParaRPr 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32F1DD1-8D9C-40C7-B4AB-0715B7EA4465}"/>
              </a:ext>
            </a:extLst>
          </p:cNvPr>
          <p:cNvSpPr/>
          <p:nvPr/>
        </p:nvSpPr>
        <p:spPr>
          <a:xfrm>
            <a:off x="6553044" y="2599268"/>
            <a:ext cx="1438351" cy="87513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Vector1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B04BAB9-8FA8-48FA-9686-D75034CE916F}"/>
              </a:ext>
            </a:extLst>
          </p:cNvPr>
          <p:cNvSpPr/>
          <p:nvPr/>
        </p:nvSpPr>
        <p:spPr>
          <a:xfrm>
            <a:off x="6564607" y="5214513"/>
            <a:ext cx="1471966" cy="89528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Vector3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4027060-B3AA-43B3-B715-13B0030FD104}"/>
              </a:ext>
            </a:extLst>
          </p:cNvPr>
          <p:cNvSpPr/>
          <p:nvPr/>
        </p:nvSpPr>
        <p:spPr>
          <a:xfrm>
            <a:off x="6555035" y="3847094"/>
            <a:ext cx="1471966" cy="10811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1757F9-1E03-452C-B4ED-D421CA29566D}"/>
              </a:ext>
            </a:extLst>
          </p:cNvPr>
          <p:cNvSpPr/>
          <p:nvPr/>
        </p:nvSpPr>
        <p:spPr>
          <a:xfrm>
            <a:off x="3256492" y="5369924"/>
            <a:ext cx="1451913" cy="5844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Skew &lt; - 2 and Kurtosis &gt;2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AFB79B-1FCD-4F6D-AC21-10A48D2ADD90}"/>
              </a:ext>
            </a:extLst>
          </p:cNvPr>
          <p:cNvSpPr txBox="1"/>
          <p:nvPr/>
        </p:nvSpPr>
        <p:spPr>
          <a:xfrm>
            <a:off x="5046145" y="5342395"/>
            <a:ext cx="1555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C4715E-99E4-4C74-A4F1-34B316A022D6}"/>
              </a:ext>
            </a:extLst>
          </p:cNvPr>
          <p:cNvSpPr txBox="1"/>
          <p:nvPr/>
        </p:nvSpPr>
        <p:spPr>
          <a:xfrm>
            <a:off x="5027025" y="5664375"/>
            <a:ext cx="1555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VectorAssembler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27FEAA-FFBF-48D8-A077-E49EA2F8BFAC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 flipV="1">
            <a:off x="4988428" y="3036836"/>
            <a:ext cx="1564616" cy="5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E405866-D4BD-4D3B-93FE-139F10057D0C}"/>
              </a:ext>
            </a:extLst>
          </p:cNvPr>
          <p:cNvCxnSpPr>
            <a:cxnSpLocks/>
            <a:stCxn id="16" idx="3"/>
            <a:endCxn id="14" idx="1"/>
          </p:cNvCxnSpPr>
          <p:nvPr/>
        </p:nvCxnSpPr>
        <p:spPr>
          <a:xfrm>
            <a:off x="4708405" y="5662155"/>
            <a:ext cx="18562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13A9733B-8819-4F3A-8920-61897137B442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708405" y="4126249"/>
            <a:ext cx="1856202" cy="90590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B60F10B-5FB8-4819-90B5-C0752C1ABA4A}"/>
              </a:ext>
            </a:extLst>
          </p:cNvPr>
          <p:cNvSpPr/>
          <p:nvPr/>
        </p:nvSpPr>
        <p:spPr>
          <a:xfrm>
            <a:off x="8538288" y="3718880"/>
            <a:ext cx="1092846" cy="104694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Assembler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E989A481-70A7-437F-A881-87D0EBBB3EF8}"/>
              </a:ext>
            </a:extLst>
          </p:cNvPr>
          <p:cNvSpPr/>
          <p:nvPr/>
        </p:nvSpPr>
        <p:spPr>
          <a:xfrm>
            <a:off x="2431740" y="4154740"/>
            <a:ext cx="352387" cy="31357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DCD983DF-5D6E-47B4-8AE9-DD7F9A7D6A65}"/>
              </a:ext>
            </a:extLst>
          </p:cNvPr>
          <p:cNvSpPr/>
          <p:nvPr/>
        </p:nvSpPr>
        <p:spPr>
          <a:xfrm>
            <a:off x="8160169" y="4085621"/>
            <a:ext cx="361781" cy="31357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A3D3D5E-F3EF-4A32-9ED4-7B5D3878570A}"/>
              </a:ext>
            </a:extLst>
          </p:cNvPr>
          <p:cNvSpPr/>
          <p:nvPr/>
        </p:nvSpPr>
        <p:spPr>
          <a:xfrm>
            <a:off x="10025591" y="3708735"/>
            <a:ext cx="1113331" cy="104694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Final</a:t>
            </a:r>
          </a:p>
        </p:txBody>
      </p:sp>
      <p:sp>
        <p:nvSpPr>
          <p:cNvPr id="31" name="TextBox 38">
            <a:extLst>
              <a:ext uri="{FF2B5EF4-FFF2-40B4-BE49-F238E27FC236}">
                <a16:creationId xmlns:a16="http://schemas.microsoft.com/office/drawing/2014/main" id="{1CBE281A-0BA5-49AC-B86E-A87945BC0BA9}"/>
              </a:ext>
            </a:extLst>
          </p:cNvPr>
          <p:cNvSpPr txBox="1"/>
          <p:nvPr/>
        </p:nvSpPr>
        <p:spPr>
          <a:xfrm>
            <a:off x="3017043" y="1741370"/>
            <a:ext cx="1913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Data type group</a:t>
            </a:r>
          </a:p>
        </p:txBody>
      </p:sp>
      <p:sp>
        <p:nvSpPr>
          <p:cNvPr id="32" name="TextBox 39">
            <a:extLst>
              <a:ext uri="{FF2B5EF4-FFF2-40B4-BE49-F238E27FC236}">
                <a16:creationId xmlns:a16="http://schemas.microsoft.com/office/drawing/2014/main" id="{9BE1025E-2BD6-491F-8AB8-FB745E0C5BE9}"/>
              </a:ext>
            </a:extLst>
          </p:cNvPr>
          <p:cNvSpPr txBox="1"/>
          <p:nvPr/>
        </p:nvSpPr>
        <p:spPr>
          <a:xfrm>
            <a:off x="6343598" y="1762048"/>
            <a:ext cx="1913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Vectors</a:t>
            </a:r>
          </a:p>
        </p:txBody>
      </p:sp>
      <p:sp>
        <p:nvSpPr>
          <p:cNvPr id="33" name="TextBox 40">
            <a:extLst>
              <a:ext uri="{FF2B5EF4-FFF2-40B4-BE49-F238E27FC236}">
                <a16:creationId xmlns:a16="http://schemas.microsoft.com/office/drawing/2014/main" id="{130085C3-67E4-4635-AF91-DC5F780F340D}"/>
              </a:ext>
            </a:extLst>
          </p:cNvPr>
          <p:cNvSpPr txBox="1"/>
          <p:nvPr/>
        </p:nvSpPr>
        <p:spPr>
          <a:xfrm>
            <a:off x="9647472" y="3273551"/>
            <a:ext cx="1913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Output</a:t>
            </a:r>
          </a:p>
        </p:txBody>
      </p:sp>
      <p:sp>
        <p:nvSpPr>
          <p:cNvPr id="34" name="TextBox 41">
            <a:extLst>
              <a:ext uri="{FF2B5EF4-FFF2-40B4-BE49-F238E27FC236}">
                <a16:creationId xmlns:a16="http://schemas.microsoft.com/office/drawing/2014/main" id="{6AD628B3-C0A4-426A-94AF-2D7CC7B87D77}"/>
              </a:ext>
            </a:extLst>
          </p:cNvPr>
          <p:cNvSpPr txBox="1"/>
          <p:nvPr/>
        </p:nvSpPr>
        <p:spPr>
          <a:xfrm>
            <a:off x="8127719" y="3252982"/>
            <a:ext cx="1913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Estimator</a:t>
            </a:r>
          </a:p>
        </p:txBody>
      </p:sp>
      <p:sp>
        <p:nvSpPr>
          <p:cNvPr id="35" name="TextBox 42">
            <a:extLst>
              <a:ext uri="{FF2B5EF4-FFF2-40B4-BE49-F238E27FC236}">
                <a16:creationId xmlns:a16="http://schemas.microsoft.com/office/drawing/2014/main" id="{B989DCF9-16BE-48E8-A594-EF1315EA9C7B}"/>
              </a:ext>
            </a:extLst>
          </p:cNvPr>
          <p:cNvSpPr txBox="1"/>
          <p:nvPr/>
        </p:nvSpPr>
        <p:spPr>
          <a:xfrm>
            <a:off x="869055" y="3402760"/>
            <a:ext cx="1913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Dataset</a:t>
            </a:r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68CCEB29-AD48-47CD-9F49-EB8EA097C6C9}"/>
              </a:ext>
            </a:extLst>
          </p:cNvPr>
          <p:cNvSpPr/>
          <p:nvPr/>
        </p:nvSpPr>
        <p:spPr>
          <a:xfrm>
            <a:off x="9647472" y="4123351"/>
            <a:ext cx="361781" cy="31357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Chỗ dành sẵn cho Số hiệu Bản chiếu 29">
            <a:extLst>
              <a:ext uri="{FF2B5EF4-FFF2-40B4-BE49-F238E27FC236}">
                <a16:creationId xmlns:a16="http://schemas.microsoft.com/office/drawing/2014/main" id="{FB0F93B3-3658-4E1E-840D-C1265E82E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11</a:t>
            </a:fld>
            <a:endParaRPr lang="en-US"/>
          </a:p>
        </p:txBody>
      </p:sp>
      <p:sp>
        <p:nvSpPr>
          <p:cNvPr id="39" name="Hộp Văn bản 38">
            <a:extLst>
              <a:ext uri="{FF2B5EF4-FFF2-40B4-BE49-F238E27FC236}">
                <a16:creationId xmlns:a16="http://schemas.microsoft.com/office/drawing/2014/main" id="{9F9146D1-024A-41E1-BAE1-2C6A09FF1960}"/>
              </a:ext>
            </a:extLst>
          </p:cNvPr>
          <p:cNvSpPr txBox="1"/>
          <p:nvPr/>
        </p:nvSpPr>
        <p:spPr>
          <a:xfrm>
            <a:off x="5488463" y="4278985"/>
            <a:ext cx="109248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</a:p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Assembler</a:t>
            </a:r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637873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F29F-E661-4F11-B7DE-BEFD1644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14487"/>
            <a:ext cx="9601196" cy="130386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b="1"/>
              <a:t>EXPERIMENT</a:t>
            </a:r>
            <a:br>
              <a:rPr lang="en-US" sz="2400" b="1"/>
            </a:br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3FA02-569C-4754-85B2-CE1A3EA65477}"/>
              </a:ext>
            </a:extLst>
          </p:cNvPr>
          <p:cNvSpPr txBox="1"/>
          <p:nvPr/>
        </p:nvSpPr>
        <p:spPr>
          <a:xfrm>
            <a:off x="920480" y="1266420"/>
            <a:ext cx="3435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D.   Most important features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23A2422-B642-45E8-B0C1-4E481E5D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12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C50336-333D-4DC6-8B3A-900F8C797C31}"/>
              </a:ext>
            </a:extLst>
          </p:cNvPr>
          <p:cNvSpPr txBox="1"/>
          <p:nvPr/>
        </p:nvSpPr>
        <p:spPr>
          <a:xfrm>
            <a:off x="3454808" y="2590854"/>
            <a:ext cx="3234814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Sparse Vector</a:t>
            </a:r>
          </a:p>
          <a:p>
            <a:r>
              <a:rPr lang="en-US" b="1">
                <a:latin typeface="+mj-lt"/>
              </a:rPr>
              <a:t>Index:    </a:t>
            </a:r>
            <a:r>
              <a:rPr lang="en-US">
                <a:latin typeface="+mj-lt"/>
              </a:rPr>
              <a:t>[1,3,..,180,182]</a:t>
            </a:r>
          </a:p>
          <a:p>
            <a:r>
              <a:rPr lang="en-US" b="1">
                <a:latin typeface="+mj-lt"/>
              </a:rPr>
              <a:t>Weight: </a:t>
            </a:r>
            <a:r>
              <a:rPr lang="en-US">
                <a:latin typeface="+mj-lt"/>
              </a:rPr>
              <a:t>[0.02,0.03,…,0.07,0.05]</a:t>
            </a:r>
          </a:p>
          <a:p>
            <a:r>
              <a:rPr lang="en-US" b="1">
                <a:latin typeface="+mj-lt"/>
              </a:rPr>
              <a:t>Sum</a:t>
            </a:r>
            <a:r>
              <a:rPr lang="en-US" b="1" baseline="-25000">
                <a:latin typeface="+mj-lt"/>
              </a:rPr>
              <a:t>weight</a:t>
            </a:r>
            <a:r>
              <a:rPr lang="en-US" b="1">
                <a:latin typeface="+mj-lt"/>
              </a:rPr>
              <a:t> 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935AC9-A9BC-4500-A75C-DCCB68189BFA}"/>
              </a:ext>
            </a:extLst>
          </p:cNvPr>
          <p:cNvSpPr txBox="1"/>
          <p:nvPr/>
        </p:nvSpPr>
        <p:spPr>
          <a:xfrm>
            <a:off x="1730477" y="2050694"/>
            <a:ext cx="78903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>
                <a:latin typeface="+mj-lt"/>
              </a:rPr>
              <a:t>Model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EF2458-ED4C-4803-A4DB-80DE8538D5FA}"/>
              </a:ext>
            </a:extLst>
          </p:cNvPr>
          <p:cNvSpPr txBox="1"/>
          <p:nvPr/>
        </p:nvSpPr>
        <p:spPr>
          <a:xfrm>
            <a:off x="7536425" y="2050694"/>
            <a:ext cx="238923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>
                <a:latin typeface="+mj-lt"/>
              </a:rPr>
              <a:t>Most important features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3F2E438-0AF8-4F42-8A8C-27D6FE00801B}"/>
              </a:ext>
            </a:extLst>
          </p:cNvPr>
          <p:cNvSpPr txBox="1"/>
          <p:nvPr/>
        </p:nvSpPr>
        <p:spPr>
          <a:xfrm>
            <a:off x="4063178" y="2050694"/>
            <a:ext cx="22532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>
                <a:latin typeface="+mj-lt"/>
              </a:rPr>
              <a:t>Feature importance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1E4D31B-F5CC-4A43-B267-686727E192AE}"/>
              </a:ext>
            </a:extLst>
          </p:cNvPr>
          <p:cNvCxnSpPr>
            <a:cxnSpLocks/>
            <a:stCxn id="11" idx="3"/>
            <a:endCxn id="33" idx="1"/>
          </p:cNvCxnSpPr>
          <p:nvPr/>
        </p:nvCxnSpPr>
        <p:spPr>
          <a:xfrm>
            <a:off x="2519514" y="2235360"/>
            <a:ext cx="15436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CA6AEE6-8D39-4E14-9962-301C6ED87FBF}"/>
              </a:ext>
            </a:extLst>
          </p:cNvPr>
          <p:cNvCxnSpPr>
            <a:cxnSpLocks/>
            <a:stCxn id="33" idx="3"/>
            <a:endCxn id="21" idx="1"/>
          </p:cNvCxnSpPr>
          <p:nvPr/>
        </p:nvCxnSpPr>
        <p:spPr>
          <a:xfrm>
            <a:off x="6316393" y="2235360"/>
            <a:ext cx="12200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C2F0CC9-D8BB-4CB8-9B89-28D3B1B15A2E}"/>
                  </a:ext>
                </a:extLst>
              </p:cNvPr>
              <p:cNvSpPr txBox="1"/>
              <p:nvPr/>
            </p:nvSpPr>
            <p:spPr>
              <a:xfrm>
                <a:off x="7536425" y="2590854"/>
                <a:ext cx="2389239" cy="132081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>
                    <a:latin typeface="+mj-lt"/>
                  </a:rPr>
                  <a:t>f</a:t>
                </a:r>
                <a:r>
                  <a:rPr lang="en-US" b="1" baseline="-25000">
                    <a:latin typeface="+mj-lt"/>
                  </a:rPr>
                  <a:t>i </a:t>
                </a:r>
                <a:r>
                  <a:rPr lang="en-US" b="1">
                    <a:latin typeface="+mj-lt"/>
                  </a:rPr>
                  <a:t>&gt;threshold</a:t>
                </a:r>
              </a:p>
              <a:p>
                <a:r>
                  <a:rPr lang="en-US">
                    <a:latin typeface="+mj-lt"/>
                  </a:rPr>
                  <a:t>Threshold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den>
                    </m:f>
                  </m:oMath>
                </a14:m>
                <a:endParaRPr lang="en-US">
                  <a:latin typeface="+mj-lt"/>
                </a:endParaRPr>
              </a:p>
              <a:p>
                <a:r>
                  <a:rPr lang="en-US">
                    <a:latin typeface="+mj-lt"/>
                  </a:rPr>
                  <a:t>X in [0,5]</a:t>
                </a:r>
              </a:p>
              <a:p>
                <a:r>
                  <a:rPr lang="en-US">
                    <a:latin typeface="+mj-lt"/>
                  </a:rPr>
                  <a:t>Y: length of index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C2F0CC9-D8BB-4CB8-9B89-28D3B1B15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6425" y="2590854"/>
                <a:ext cx="2389239" cy="1320811"/>
              </a:xfrm>
              <a:prstGeom prst="rect">
                <a:avLst/>
              </a:prstGeom>
              <a:blipFill>
                <a:blip r:embed="rId2"/>
                <a:stretch>
                  <a:fillRect l="-1772" t="-1818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8E0CB3C9-2F1A-4922-8A7D-B98211661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886398"/>
              </p:ext>
            </p:extLst>
          </p:nvPr>
        </p:nvGraphicFramePr>
        <p:xfrm>
          <a:off x="1069145" y="4050890"/>
          <a:ext cx="9166237" cy="159204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55504">
                  <a:extLst>
                    <a:ext uri="{9D8B030D-6E8A-4147-A177-3AD203B41FA5}">
                      <a16:colId xmlns:a16="http://schemas.microsoft.com/office/drawing/2014/main" val="235741597"/>
                    </a:ext>
                  </a:extLst>
                </a:gridCol>
                <a:gridCol w="1391863">
                  <a:extLst>
                    <a:ext uri="{9D8B030D-6E8A-4147-A177-3AD203B41FA5}">
                      <a16:colId xmlns:a16="http://schemas.microsoft.com/office/drawing/2014/main" val="4074911122"/>
                    </a:ext>
                  </a:extLst>
                </a:gridCol>
                <a:gridCol w="1203774">
                  <a:extLst>
                    <a:ext uri="{9D8B030D-6E8A-4147-A177-3AD203B41FA5}">
                      <a16:colId xmlns:a16="http://schemas.microsoft.com/office/drawing/2014/main" val="3757434349"/>
                    </a:ext>
                  </a:extLst>
                </a:gridCol>
                <a:gridCol w="1203774">
                  <a:extLst>
                    <a:ext uri="{9D8B030D-6E8A-4147-A177-3AD203B41FA5}">
                      <a16:colId xmlns:a16="http://schemas.microsoft.com/office/drawing/2014/main" val="2353224805"/>
                    </a:ext>
                  </a:extLst>
                </a:gridCol>
                <a:gridCol w="1203774">
                  <a:extLst>
                    <a:ext uri="{9D8B030D-6E8A-4147-A177-3AD203B41FA5}">
                      <a16:colId xmlns:a16="http://schemas.microsoft.com/office/drawing/2014/main" val="94842738"/>
                    </a:ext>
                  </a:extLst>
                </a:gridCol>
                <a:gridCol w="1203774">
                  <a:extLst>
                    <a:ext uri="{9D8B030D-6E8A-4147-A177-3AD203B41FA5}">
                      <a16:colId xmlns:a16="http://schemas.microsoft.com/office/drawing/2014/main" val="1752838221"/>
                    </a:ext>
                  </a:extLst>
                </a:gridCol>
                <a:gridCol w="1203774">
                  <a:extLst>
                    <a:ext uri="{9D8B030D-6E8A-4147-A177-3AD203B41FA5}">
                      <a16:colId xmlns:a16="http://schemas.microsoft.com/office/drawing/2014/main" val="3868210548"/>
                    </a:ext>
                  </a:extLst>
                </a:gridCol>
              </a:tblGrid>
              <a:tr h="479525">
                <a:tc>
                  <a:txBody>
                    <a:bodyPr/>
                    <a:lstStyle/>
                    <a:p>
                      <a:r>
                        <a:rPr lang="en-US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99474266"/>
                  </a:ext>
                </a:extLst>
              </a:tr>
              <a:tr h="479525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Scenario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A </a:t>
                      </a:r>
                    </a:p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(# features)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82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186783"/>
                  </a:ext>
                </a:extLst>
              </a:tr>
              <a:tr h="479525">
                <a:tc>
                  <a:txBody>
                    <a:bodyPr/>
                    <a:lstStyle/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Scenario</a:t>
                      </a:r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B</a:t>
                      </a:r>
                    </a:p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u="none" strike="noStrike">
                          <a:solidFill>
                            <a:srgbClr val="000000"/>
                          </a:solidFill>
                          <a:effectLst/>
                        </a:rPr>
                        <a:t> (# features)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62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95795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C0FEEC1-3D95-4EBC-ABD9-897F193E6718}"/>
              </a:ext>
            </a:extLst>
          </p:cNvPr>
          <p:cNvSpPr txBox="1"/>
          <p:nvPr/>
        </p:nvSpPr>
        <p:spPr>
          <a:xfrm>
            <a:off x="1798074" y="1688248"/>
            <a:ext cx="87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GBT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2191FE-7537-45D6-96A9-B9CBE6650FD9}"/>
              </a:ext>
            </a:extLst>
          </p:cNvPr>
          <p:cNvSpPr txBox="1"/>
          <p:nvPr/>
        </p:nvSpPr>
        <p:spPr>
          <a:xfrm>
            <a:off x="1798074" y="1688282"/>
            <a:ext cx="87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GBT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06E579-0888-4F71-A294-C17700F618D7}"/>
              </a:ext>
            </a:extLst>
          </p:cNvPr>
          <p:cNvSpPr txBox="1"/>
          <p:nvPr/>
        </p:nvSpPr>
        <p:spPr>
          <a:xfrm>
            <a:off x="4441106" y="1688248"/>
            <a:ext cx="1465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Data set 2</a:t>
            </a:r>
          </a:p>
        </p:txBody>
      </p:sp>
    </p:spTree>
    <p:extLst>
      <p:ext uri="{BB962C8B-B14F-4D97-AF65-F5344CB8AC3E}">
        <p14:creationId xmlns:p14="http://schemas.microsoft.com/office/powerpoint/2010/main" val="3012107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F29F-E661-4F11-B7DE-BEFD1644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14487"/>
            <a:ext cx="9601196" cy="130386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b="1"/>
              <a:t>EXPERIMENT</a:t>
            </a:r>
            <a:br>
              <a:rPr lang="en-US" sz="2400" b="1"/>
            </a:br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3FA02-569C-4754-85B2-CE1A3EA65477}"/>
              </a:ext>
            </a:extLst>
          </p:cNvPr>
          <p:cNvSpPr txBox="1"/>
          <p:nvPr/>
        </p:nvSpPr>
        <p:spPr>
          <a:xfrm>
            <a:off x="920480" y="1266420"/>
            <a:ext cx="517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E.   Experimental dataset  statistics</a:t>
            </a:r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23A2422-B642-45E8-B0C1-4E481E5D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7" name="Bảng 7">
            <a:extLst>
              <a:ext uri="{FF2B5EF4-FFF2-40B4-BE49-F238E27FC236}">
                <a16:creationId xmlns:a16="http://schemas.microsoft.com/office/drawing/2014/main" id="{A29380A4-12C5-494C-84B6-4F0D670C7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159269"/>
              </p:ext>
            </p:extLst>
          </p:nvPr>
        </p:nvGraphicFramePr>
        <p:xfrm>
          <a:off x="996462" y="1635752"/>
          <a:ext cx="10199076" cy="3943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692">
                  <a:extLst>
                    <a:ext uri="{9D8B030D-6E8A-4147-A177-3AD203B41FA5}">
                      <a16:colId xmlns:a16="http://schemas.microsoft.com/office/drawing/2014/main" val="3416241075"/>
                    </a:ext>
                  </a:extLst>
                </a:gridCol>
                <a:gridCol w="3399692">
                  <a:extLst>
                    <a:ext uri="{9D8B030D-6E8A-4147-A177-3AD203B41FA5}">
                      <a16:colId xmlns:a16="http://schemas.microsoft.com/office/drawing/2014/main" val="2044956546"/>
                    </a:ext>
                  </a:extLst>
                </a:gridCol>
                <a:gridCol w="3399692">
                  <a:extLst>
                    <a:ext uri="{9D8B030D-6E8A-4147-A177-3AD203B41FA5}">
                      <a16:colId xmlns:a16="http://schemas.microsoft.com/office/drawing/2014/main" val="1190231847"/>
                    </a:ext>
                  </a:extLst>
                </a:gridCol>
              </a:tblGrid>
              <a:tr h="1303773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ysClr val="windowText" lastClr="000000"/>
                          </a:solidFill>
                        </a:rPr>
                        <a:t>Data 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ysClr val="windowText" lastClr="000000"/>
                          </a:solidFill>
                        </a:rPr>
                        <a:t># features in </a:t>
                      </a:r>
                    </a:p>
                    <a:p>
                      <a:r>
                        <a:rPr lang="en-US" b="0">
                          <a:solidFill>
                            <a:sysClr val="windowText" lastClr="000000"/>
                          </a:solidFill>
                        </a:rPr>
                        <a:t>Scenario A (retaining raw categorical features)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solidFill>
                            <a:sysClr val="windowText" lastClr="000000"/>
                          </a:solidFill>
                        </a:rPr>
                        <a:t># features in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solidFill>
                            <a:sysClr val="windowText" lastClr="000000"/>
                          </a:solidFill>
                        </a:rPr>
                        <a:t>Scenario B (removing raw categorical features)</a:t>
                      </a:r>
                    </a:p>
                    <a:p>
                      <a:endParaRPr 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270711"/>
                  </a:ext>
                </a:extLst>
              </a:tr>
              <a:tr h="542551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ysClr val="windowText" lastClr="000000"/>
                          </a:solidFill>
                        </a:rPr>
                        <a:t>Data set1: Original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117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91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776297"/>
                  </a:ext>
                </a:extLst>
              </a:tr>
              <a:tr h="54255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solidFill>
                            <a:sysClr val="windowText" lastClr="000000"/>
                          </a:solidFill>
                        </a:rPr>
                        <a:t>Data set2: feature engineering for datetime 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184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158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944565"/>
                  </a:ext>
                </a:extLst>
              </a:tr>
              <a:tr h="54255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solidFill>
                            <a:sysClr val="windowText" lastClr="000000"/>
                          </a:solidFill>
                        </a:rPr>
                        <a:t>Data set3: data set 2 + feature engineering for categorical </a:t>
                      </a:r>
                    </a:p>
                    <a:p>
                      <a:endParaRPr lang="en-US" b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196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168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935099"/>
                  </a:ext>
                </a:extLst>
              </a:tr>
              <a:tr h="542551">
                <a:tc>
                  <a:txBody>
                    <a:bodyPr/>
                    <a:lstStyle/>
                    <a:p>
                      <a:r>
                        <a:rPr lang="en-US" b="0">
                          <a:solidFill>
                            <a:sysClr val="windowText" lastClr="000000"/>
                          </a:solidFill>
                        </a:rPr>
                        <a:t>Data set important 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ysClr val="windowText" lastClr="000000"/>
                          </a:solidFill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220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750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F29F-E661-4F11-B7DE-BEFD1644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14487"/>
            <a:ext cx="9601196" cy="1303867"/>
          </a:xfrm>
        </p:spPr>
        <p:txBody>
          <a:bodyPr>
            <a:normAutofit/>
          </a:bodyPr>
          <a:lstStyle/>
          <a:p>
            <a:r>
              <a:rPr lang="en-US" sz="2400" b="1"/>
              <a:t>5.   RESULT</a:t>
            </a:r>
            <a:br>
              <a:rPr lang="en-US" sz="2400" b="1"/>
            </a:b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36D48-3FA7-4504-B929-64CDD0B9EF58}"/>
              </a:ext>
            </a:extLst>
          </p:cNvPr>
          <p:cNvSpPr txBox="1"/>
          <p:nvPr/>
        </p:nvSpPr>
        <p:spPr>
          <a:xfrm>
            <a:off x="2516909" y="1500054"/>
            <a:ext cx="1782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Scenario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E3C9BC-22BD-4D17-BFC4-C8F444E8D638}"/>
              </a:ext>
            </a:extLst>
          </p:cNvPr>
          <p:cNvSpPr txBox="1"/>
          <p:nvPr/>
        </p:nvSpPr>
        <p:spPr>
          <a:xfrm>
            <a:off x="7973963" y="1500054"/>
            <a:ext cx="1992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Scenario 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6DD8FE-4E65-40CA-938D-CE7530804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230" y="1869386"/>
            <a:ext cx="5165455" cy="3976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CFD779-D1BD-4E8B-B8A5-686B197DF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944" y="1869386"/>
            <a:ext cx="5109308" cy="39769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2D12CA-14F4-43A2-8754-4E3E7556F49C}"/>
              </a:ext>
            </a:extLst>
          </p:cNvPr>
          <p:cNvSpPr txBox="1"/>
          <p:nvPr/>
        </p:nvSpPr>
        <p:spPr>
          <a:xfrm>
            <a:off x="3851024" y="5846334"/>
            <a:ext cx="611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Fig6: </a:t>
            </a:r>
            <a:r>
              <a:rPr lang="en-US"/>
              <a:t>Accuracy of different models on 4 data set 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7FE48667-ADAC-449A-9748-70D59A5CA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531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7736D48-3FA7-4504-B929-64CDD0B9EF58}"/>
              </a:ext>
            </a:extLst>
          </p:cNvPr>
          <p:cNvSpPr txBox="1"/>
          <p:nvPr/>
        </p:nvSpPr>
        <p:spPr>
          <a:xfrm>
            <a:off x="2650502" y="1480734"/>
            <a:ext cx="1782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Scenario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E3C9BC-22BD-4D17-BFC4-C8F444E8D638}"/>
              </a:ext>
            </a:extLst>
          </p:cNvPr>
          <p:cNvSpPr txBox="1"/>
          <p:nvPr/>
        </p:nvSpPr>
        <p:spPr>
          <a:xfrm>
            <a:off x="7873701" y="1480734"/>
            <a:ext cx="1992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Scenario 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2D12CA-14F4-43A2-8754-4E3E7556F49C}"/>
              </a:ext>
            </a:extLst>
          </p:cNvPr>
          <p:cNvSpPr txBox="1"/>
          <p:nvPr/>
        </p:nvSpPr>
        <p:spPr>
          <a:xfrm>
            <a:off x="3745623" y="5797366"/>
            <a:ext cx="61156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Fig7: </a:t>
            </a:r>
            <a:r>
              <a:rPr lang="en-US"/>
              <a:t>F1-score of different models on 4 data set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1F83DD-AF60-40B5-855D-7BC01FF59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48" y="1881017"/>
            <a:ext cx="5228353" cy="40026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3AA8C8-7066-441A-B1C7-BE3B2A4AD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836" y="1881017"/>
            <a:ext cx="5226682" cy="391634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0A9977F8-6EFB-436C-8AA5-F190090C2264}"/>
              </a:ext>
            </a:extLst>
          </p:cNvPr>
          <p:cNvSpPr txBox="1">
            <a:spLocks/>
          </p:cNvSpPr>
          <p:nvPr/>
        </p:nvSpPr>
        <p:spPr>
          <a:xfrm>
            <a:off x="1295402" y="614487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b="1"/>
              <a:t>5.   RESULT</a:t>
            </a:r>
            <a:br>
              <a:rPr lang="en-US" sz="2400" b="1"/>
            </a:br>
            <a:endParaRPr lang="en-US" sz="2400"/>
          </a:p>
        </p:txBody>
      </p:sp>
      <p:sp>
        <p:nvSpPr>
          <p:cNvPr id="8" name="Chỗ dành sẵn cho Số hiệu Bản chiếu 7">
            <a:extLst>
              <a:ext uri="{FF2B5EF4-FFF2-40B4-BE49-F238E27FC236}">
                <a16:creationId xmlns:a16="http://schemas.microsoft.com/office/drawing/2014/main" id="{AA6FE307-59B7-4E5E-992D-0EF2508C6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53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F29F-E661-4F11-B7DE-BEFD1644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14487"/>
            <a:ext cx="9601196" cy="1303867"/>
          </a:xfrm>
        </p:spPr>
        <p:txBody>
          <a:bodyPr>
            <a:normAutofit/>
          </a:bodyPr>
          <a:lstStyle/>
          <a:p>
            <a:r>
              <a:rPr lang="en-US" sz="2400" b="1"/>
              <a:t>5.   RESULT</a:t>
            </a:r>
            <a:br>
              <a:rPr lang="en-US" sz="2400" b="1"/>
            </a:b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36D48-3FA7-4504-B929-64CDD0B9EF58}"/>
              </a:ext>
            </a:extLst>
          </p:cNvPr>
          <p:cNvSpPr txBox="1"/>
          <p:nvPr/>
        </p:nvSpPr>
        <p:spPr>
          <a:xfrm>
            <a:off x="2591611" y="1511685"/>
            <a:ext cx="1782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Scenario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E3C9BC-22BD-4D17-BFC4-C8F444E8D638}"/>
              </a:ext>
            </a:extLst>
          </p:cNvPr>
          <p:cNvSpPr txBox="1"/>
          <p:nvPr/>
        </p:nvSpPr>
        <p:spPr>
          <a:xfrm>
            <a:off x="7492182" y="1511685"/>
            <a:ext cx="1992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Scenario 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DE2F32-4FEF-4EA4-A148-E6EBFCB3E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318" y="1881017"/>
            <a:ext cx="5226682" cy="39163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E56248-E15F-4D35-A648-4E6D482154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836" y="1881017"/>
            <a:ext cx="5226682" cy="39207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9DE8B2-8E6D-440C-9225-805981428D46}"/>
              </a:ext>
            </a:extLst>
          </p:cNvPr>
          <p:cNvSpPr txBox="1"/>
          <p:nvPr/>
        </p:nvSpPr>
        <p:spPr>
          <a:xfrm>
            <a:off x="2591611" y="5857965"/>
            <a:ext cx="74073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Fig8</a:t>
            </a:r>
            <a:r>
              <a:rPr lang="en-US"/>
              <a:t>: F1-score on different numbers of important features in data set 2 </a:t>
            </a:r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5DB44BE1-7466-48FF-B19F-E950F8321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35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AD52A-9C1B-40AA-9EAE-1C2B2335F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05060"/>
            <a:ext cx="9601196" cy="1303867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 startAt="5"/>
            </a:pPr>
            <a:r>
              <a:rPr lang="en-US" sz="2400" b="1"/>
              <a:t>CONCLUSION AND FUTURE WORK</a:t>
            </a:r>
            <a:br>
              <a:rPr lang="en-US" sz="2400" b="1"/>
            </a:br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5A842-59F9-4A7C-9148-A03480073D0C}"/>
              </a:ext>
            </a:extLst>
          </p:cNvPr>
          <p:cNvSpPr txBox="1"/>
          <p:nvPr/>
        </p:nvSpPr>
        <p:spPr>
          <a:xfrm>
            <a:off x="1295402" y="3968440"/>
            <a:ext cx="91759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Future work: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Use streaming data (real-time financial activities or social data)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Apply Deep Learning models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endParaRPr lang="en-US" b="1"/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3495FA-4D97-4CE2-8364-A8B240487FFA}"/>
              </a:ext>
            </a:extLst>
          </p:cNvPr>
          <p:cNvSpPr txBox="1"/>
          <p:nvPr/>
        </p:nvSpPr>
        <p:spPr>
          <a:xfrm>
            <a:off x="1295402" y="1660116"/>
            <a:ext cx="9175954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/>
              <a:t>Summary: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Best performance: </a:t>
            </a:r>
            <a:r>
              <a:rPr lang="en-US" b="1"/>
              <a:t>60% F1_score and 72.92% Accuracy</a:t>
            </a:r>
            <a:endParaRPr lang="en-US" b="1">
              <a:cs typeface="Times New Roman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/>
              <a:t>Scenario B of data set 1</a:t>
            </a:r>
            <a:endParaRPr lang="en-US">
              <a:cs typeface="Times New Roman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/>
              <a:t>GBT model</a:t>
            </a:r>
            <a:endParaRPr lang="en-US">
              <a:cs typeface="Times New 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Removing raw categorical features better than retaining them.</a:t>
            </a:r>
            <a:endParaRPr lang="en-US">
              <a:cs typeface="Times New Roman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Using important features improves efficiency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Number of most important features in [5,10] gives the best f1-score.  </a:t>
            </a:r>
            <a:endParaRPr lang="en-US">
              <a:cs typeface="Times New Roman"/>
            </a:endParaRPr>
          </a:p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A919B2B0-BCAF-411B-92E9-4DCB62F12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05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6654692-73D4-446E-8C6A-171BB22990E2}"/>
              </a:ext>
            </a:extLst>
          </p:cNvPr>
          <p:cNvSpPr/>
          <p:nvPr/>
        </p:nvSpPr>
        <p:spPr>
          <a:xfrm>
            <a:off x="1056639" y="2863640"/>
            <a:ext cx="10078721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Inflate">
              <a:avLst/>
            </a:prstTxWarp>
            <a:spAutoFit/>
          </a:bodyPr>
          <a:lstStyle/>
          <a:p>
            <a:pPr algn="ctr"/>
            <a:r>
              <a:rPr lang="en-US" sz="5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 FOR WATCHING</a:t>
            </a:r>
          </a:p>
        </p:txBody>
      </p:sp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179E84A6-39BD-477E-B4FA-D9020E63F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58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558E32-53B3-4BB2-BE84-1867FD47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19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7682C1-9182-4F51-926F-A892C1997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731" y="609600"/>
            <a:ext cx="10395153" cy="1303867"/>
          </a:xfrm>
        </p:spPr>
        <p:txBody>
          <a:bodyPr>
            <a:normAutofit fontScale="90000"/>
          </a:bodyPr>
          <a:lstStyle/>
          <a:p>
            <a:r>
              <a:rPr lang="en-US"/>
              <a:t>ANN (512 -&gt; 256 -&gt; Dropout(0.2)-&gt;Output(2))</a:t>
            </a:r>
            <a:br>
              <a:rPr lang="en-US"/>
            </a:br>
            <a:r>
              <a:rPr lang="en-US"/>
              <a:t>LR = 1e-06, Epochs = 100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8EC4CA5-780D-487B-B779-284A1C2FF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908177"/>
              </p:ext>
            </p:extLst>
          </p:nvPr>
        </p:nvGraphicFramePr>
        <p:xfrm>
          <a:off x="996745" y="2217639"/>
          <a:ext cx="10198510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9702">
                  <a:extLst>
                    <a:ext uri="{9D8B030D-6E8A-4147-A177-3AD203B41FA5}">
                      <a16:colId xmlns:a16="http://schemas.microsoft.com/office/drawing/2014/main" val="2119155521"/>
                    </a:ext>
                  </a:extLst>
                </a:gridCol>
                <a:gridCol w="2039702">
                  <a:extLst>
                    <a:ext uri="{9D8B030D-6E8A-4147-A177-3AD203B41FA5}">
                      <a16:colId xmlns:a16="http://schemas.microsoft.com/office/drawing/2014/main" val="3641404364"/>
                    </a:ext>
                  </a:extLst>
                </a:gridCol>
                <a:gridCol w="2039702">
                  <a:extLst>
                    <a:ext uri="{9D8B030D-6E8A-4147-A177-3AD203B41FA5}">
                      <a16:colId xmlns:a16="http://schemas.microsoft.com/office/drawing/2014/main" val="278482835"/>
                    </a:ext>
                  </a:extLst>
                </a:gridCol>
                <a:gridCol w="2039702">
                  <a:extLst>
                    <a:ext uri="{9D8B030D-6E8A-4147-A177-3AD203B41FA5}">
                      <a16:colId xmlns:a16="http://schemas.microsoft.com/office/drawing/2014/main" val="4054729985"/>
                    </a:ext>
                  </a:extLst>
                </a:gridCol>
                <a:gridCol w="2039702">
                  <a:extLst>
                    <a:ext uri="{9D8B030D-6E8A-4147-A177-3AD203B41FA5}">
                      <a16:colId xmlns:a16="http://schemas.microsoft.com/office/drawing/2014/main" val="33116580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0000"/>
                          </a:solidFill>
                          <a:latin typeface="+mj-lt"/>
                        </a:rPr>
                        <a:t>Scenario 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Accuracy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Recall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Precision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F1 score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30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Other case (only dataset 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  <a:latin typeface="+mj-lt"/>
                        </a:rPr>
                        <a:t>0.675411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  <a:latin typeface="+mj-lt"/>
                        </a:rPr>
                        <a:t>0.337706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  <a:latin typeface="+mj-lt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  <a:latin typeface="+mj-lt"/>
                        </a:rPr>
                        <a:t>0.403132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82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6 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  <a:latin typeface="+mj-lt"/>
                        </a:rPr>
                        <a:t>0.716608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  <a:latin typeface="+mj-lt"/>
                        </a:rPr>
                        <a:t>0.675549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  <a:latin typeface="+mj-lt"/>
                        </a:rPr>
                        <a:t>0.621995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  <a:latin typeface="+mj-lt"/>
                        </a:rPr>
                        <a:t>0.628072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50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4 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  <a:latin typeface="+mj-lt"/>
                        </a:rPr>
                        <a:t>0.699797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  <a:latin typeface="+mj-lt"/>
                        </a:rPr>
                        <a:t>0.662109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  <a:latin typeface="+mj-lt"/>
                        </a:rPr>
                        <a:t>0.570527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  <a:latin typeface="+mj-lt"/>
                        </a:rPr>
                        <a:t>0.556345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0314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CBF443-355B-438E-9D2C-9048C37D3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404755"/>
              </p:ext>
            </p:extLst>
          </p:nvPr>
        </p:nvGraphicFramePr>
        <p:xfrm>
          <a:off x="953731" y="4172101"/>
          <a:ext cx="10198510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9702">
                  <a:extLst>
                    <a:ext uri="{9D8B030D-6E8A-4147-A177-3AD203B41FA5}">
                      <a16:colId xmlns:a16="http://schemas.microsoft.com/office/drawing/2014/main" val="2119155521"/>
                    </a:ext>
                  </a:extLst>
                </a:gridCol>
                <a:gridCol w="2039702">
                  <a:extLst>
                    <a:ext uri="{9D8B030D-6E8A-4147-A177-3AD203B41FA5}">
                      <a16:colId xmlns:a16="http://schemas.microsoft.com/office/drawing/2014/main" val="3641404364"/>
                    </a:ext>
                  </a:extLst>
                </a:gridCol>
                <a:gridCol w="2039702">
                  <a:extLst>
                    <a:ext uri="{9D8B030D-6E8A-4147-A177-3AD203B41FA5}">
                      <a16:colId xmlns:a16="http://schemas.microsoft.com/office/drawing/2014/main" val="278482835"/>
                    </a:ext>
                  </a:extLst>
                </a:gridCol>
                <a:gridCol w="2039702">
                  <a:extLst>
                    <a:ext uri="{9D8B030D-6E8A-4147-A177-3AD203B41FA5}">
                      <a16:colId xmlns:a16="http://schemas.microsoft.com/office/drawing/2014/main" val="4054729985"/>
                    </a:ext>
                  </a:extLst>
                </a:gridCol>
                <a:gridCol w="2039702">
                  <a:extLst>
                    <a:ext uri="{9D8B030D-6E8A-4147-A177-3AD203B41FA5}">
                      <a16:colId xmlns:a16="http://schemas.microsoft.com/office/drawing/2014/main" val="33116580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>
                          <a:solidFill>
                            <a:srgbClr val="FF0000"/>
                          </a:solidFill>
                          <a:latin typeface="+mj-lt"/>
                        </a:rPr>
                        <a:t>Scenario 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Accuracy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Recall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Precision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F1 score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30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Other case (include 3 datasets)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  <a:latin typeface="+mj-lt"/>
                        </a:rPr>
                        <a:t>0.675411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  <a:latin typeface="+mj-lt"/>
                        </a:rPr>
                        <a:t>0.337706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  <a:latin typeface="+mj-lt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  <a:latin typeface="+mj-lt"/>
                        </a:rPr>
                        <a:t>0.403132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82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2 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</a:rPr>
                        <a:t>0.687973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</a:rPr>
                        <a:t>0.628702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</a:rPr>
                        <a:t>0.565617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</a:rPr>
                        <a:t>0.554611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501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+mj-lt"/>
                        </a:rPr>
                        <a:t>1 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</a:rPr>
                        <a:t>0.687973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</a:rPr>
                        <a:t>0.628702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</a:rPr>
                        <a:t>0.565617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effectLst/>
                        </a:rPr>
                        <a:t>0.554611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03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1782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F29F-E661-4F11-B7DE-BEFD1644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14487"/>
            <a:ext cx="9601196" cy="130386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b="1"/>
              <a:t>EXPERIMENT</a:t>
            </a:r>
            <a:br>
              <a:rPr lang="en-US" sz="2400" b="1"/>
            </a:br>
            <a:endParaRPr lang="en-US" sz="2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3FA02-569C-4754-85B2-CE1A3EA65477}"/>
              </a:ext>
            </a:extLst>
          </p:cNvPr>
          <p:cNvSpPr txBox="1"/>
          <p:nvPr/>
        </p:nvSpPr>
        <p:spPr>
          <a:xfrm>
            <a:off x="859223" y="1266420"/>
            <a:ext cx="2771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E.    Experiment scenarios</a:t>
            </a:r>
          </a:p>
        </p:txBody>
      </p:sp>
      <p:sp>
        <p:nvSpPr>
          <p:cNvPr id="30" name="Chỗ dành sẵn cho Số hiệu Bản chiếu 29">
            <a:extLst>
              <a:ext uri="{FF2B5EF4-FFF2-40B4-BE49-F238E27FC236}">
                <a16:creationId xmlns:a16="http://schemas.microsoft.com/office/drawing/2014/main" id="{FB0F93B3-3658-4E1E-840D-C1265E82E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20</a:t>
            </a:fld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527C9E-53C7-4044-B960-239D550D005D}"/>
              </a:ext>
            </a:extLst>
          </p:cNvPr>
          <p:cNvSpPr txBox="1"/>
          <p:nvPr/>
        </p:nvSpPr>
        <p:spPr>
          <a:xfrm>
            <a:off x="655787" y="1737813"/>
            <a:ext cx="5582942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/>
              <a:t>Dataset: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Original (1)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ysClr val="windowText" lastClr="000000"/>
                </a:solidFill>
              </a:rPr>
              <a:t>(1) + feature engineering for datetime features</a:t>
            </a:r>
            <a:r>
              <a:rPr lang="en-US"/>
              <a:t>(2)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ysClr val="windowText" lastClr="000000"/>
                </a:solidFill>
              </a:rPr>
              <a:t>(2) + feature engineering for categorical</a:t>
            </a:r>
            <a:r>
              <a:rPr lang="en-US" b="1">
                <a:solidFill>
                  <a:sysClr val="windowText" lastClr="000000"/>
                </a:solidFill>
              </a:rPr>
              <a:t> </a:t>
            </a:r>
            <a:r>
              <a:rPr lang="en-US">
                <a:solidFill>
                  <a:sysClr val="windowText" lastClr="000000"/>
                </a:solidFill>
              </a:rPr>
              <a:t> features</a:t>
            </a:r>
            <a:r>
              <a:rPr lang="en-US"/>
              <a:t>(2)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58771A-6C9C-4D6B-984D-AA7E874BE6D3}"/>
              </a:ext>
            </a:extLst>
          </p:cNvPr>
          <p:cNvSpPr txBox="1"/>
          <p:nvPr/>
        </p:nvSpPr>
        <p:spPr>
          <a:xfrm>
            <a:off x="7485322" y="4056883"/>
            <a:ext cx="3372465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/>
              <a:t>Important features: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</a:t>
            </a:r>
            <a:r>
              <a:rPr lang="en-US" baseline="-25000"/>
              <a:t>i</a:t>
            </a:r>
            <a:r>
              <a:rPr lang="en-US"/>
              <a:t> &gt; threshold (x in [0,5])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Total: 6 case (.1)-&gt;(.6)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6FE6654-9146-4D12-9322-81FF9A2AAF65}"/>
              </a:ext>
            </a:extLst>
          </p:cNvPr>
          <p:cNvSpPr/>
          <p:nvPr/>
        </p:nvSpPr>
        <p:spPr>
          <a:xfrm>
            <a:off x="1806481" y="3312425"/>
            <a:ext cx="3007882" cy="241224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179094E-D000-40E8-93B1-4624BD65D36B}"/>
              </a:ext>
            </a:extLst>
          </p:cNvPr>
          <p:cNvSpPr txBox="1"/>
          <p:nvPr/>
        </p:nvSpPr>
        <p:spPr>
          <a:xfrm>
            <a:off x="6806897" y="2020185"/>
            <a:ext cx="472931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/>
              <a:t>Scenarios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Remain raw categorical features (A)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Drop raw categorical features (B)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5801D76-E156-4230-9EB8-887C2F8CB0B4}"/>
              </a:ext>
            </a:extLst>
          </p:cNvPr>
          <p:cNvCxnSpPr>
            <a:cxnSpLocks/>
            <a:stCxn id="49" idx="3"/>
            <a:endCxn id="85" idx="1"/>
          </p:cNvCxnSpPr>
          <p:nvPr/>
        </p:nvCxnSpPr>
        <p:spPr>
          <a:xfrm>
            <a:off x="6238729" y="2476477"/>
            <a:ext cx="568168" cy="53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77F88C87-ED46-48C5-941B-42209961C754}"/>
              </a:ext>
            </a:extLst>
          </p:cNvPr>
          <p:cNvCxnSpPr>
            <a:cxnSpLocks/>
            <a:stCxn id="85" idx="2"/>
            <a:endCxn id="40" idx="0"/>
          </p:cNvCxnSpPr>
          <p:nvPr/>
        </p:nvCxnSpPr>
        <p:spPr>
          <a:xfrm>
            <a:off x="9171555" y="2943515"/>
            <a:ext cx="0" cy="11133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11670584-4049-4167-AF16-113F5B07D817}"/>
              </a:ext>
            </a:extLst>
          </p:cNvPr>
          <p:cNvCxnSpPr>
            <a:cxnSpLocks/>
            <a:stCxn id="40" idx="1"/>
            <a:endCxn id="60" idx="3"/>
          </p:cNvCxnSpPr>
          <p:nvPr/>
        </p:nvCxnSpPr>
        <p:spPr>
          <a:xfrm flipH="1">
            <a:off x="4814363" y="4518548"/>
            <a:ext cx="26709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DADDB1D5-8ECC-4548-A95A-0F00A5290EB0}"/>
              </a:ext>
            </a:extLst>
          </p:cNvPr>
          <p:cNvSpPr txBox="1"/>
          <p:nvPr/>
        </p:nvSpPr>
        <p:spPr>
          <a:xfrm>
            <a:off x="2093538" y="3478643"/>
            <a:ext cx="242856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1 </a:t>
            </a:r>
            <a:r>
              <a:rPr lang="en-US">
                <a:sym typeface="Wingdings" panose="05000000000000000000" pitchFamily="2" charset="2"/>
              </a:rPr>
              <a:t> 3</a:t>
            </a:r>
          </a:p>
          <a:p>
            <a:r>
              <a:rPr lang="en-US">
                <a:sym typeface="Wingdings" panose="05000000000000000000" pitchFamily="2" charset="2"/>
              </a:rPr>
              <a:t>		a</a:t>
            </a:r>
          </a:p>
          <a:p>
            <a:r>
              <a:rPr lang="en-US">
                <a:sym typeface="Wingdings" panose="05000000000000000000" pitchFamily="2" charset="2"/>
              </a:rPr>
              <a:t>			.1  .6</a:t>
            </a:r>
            <a:endParaRPr lang="en-US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45C12E49-0A4B-4053-BEB3-B9AAAB659204}"/>
              </a:ext>
            </a:extLst>
          </p:cNvPr>
          <p:cNvCxnSpPr/>
          <p:nvPr/>
        </p:nvCxnSpPr>
        <p:spPr>
          <a:xfrm>
            <a:off x="2921511" y="3482031"/>
            <a:ext cx="0" cy="9199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44465527-C1A7-4412-AFDA-E80CA77E5ADE}"/>
              </a:ext>
            </a:extLst>
          </p:cNvPr>
          <p:cNvCxnSpPr>
            <a:cxnSpLocks/>
          </p:cNvCxnSpPr>
          <p:nvPr/>
        </p:nvCxnSpPr>
        <p:spPr>
          <a:xfrm>
            <a:off x="2921511" y="3835993"/>
            <a:ext cx="52574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F9345E42-F1F1-4E71-9851-CCFE860BC3D3}"/>
              </a:ext>
            </a:extLst>
          </p:cNvPr>
          <p:cNvCxnSpPr/>
          <p:nvPr/>
        </p:nvCxnSpPr>
        <p:spPr>
          <a:xfrm>
            <a:off x="3447260" y="3835993"/>
            <a:ext cx="0" cy="56598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B0AA0452-BD34-4AFA-AE78-9D9C21956025}"/>
              </a:ext>
            </a:extLst>
          </p:cNvPr>
          <p:cNvCxnSpPr/>
          <p:nvPr/>
        </p:nvCxnSpPr>
        <p:spPr>
          <a:xfrm>
            <a:off x="3447260" y="4032638"/>
            <a:ext cx="11074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E8017DB8-6F4A-4BA1-93A6-314E94DCC93B}"/>
              </a:ext>
            </a:extLst>
          </p:cNvPr>
          <p:cNvSpPr txBox="1"/>
          <p:nvPr/>
        </p:nvSpPr>
        <p:spPr>
          <a:xfrm>
            <a:off x="2093537" y="4586634"/>
            <a:ext cx="2488287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1 </a:t>
            </a:r>
            <a:r>
              <a:rPr lang="en-US">
                <a:sym typeface="Wingdings" panose="05000000000000000000" pitchFamily="2" charset="2"/>
              </a:rPr>
              <a:t> 3</a:t>
            </a:r>
          </a:p>
          <a:p>
            <a:r>
              <a:rPr lang="en-US">
                <a:sym typeface="Wingdings" panose="05000000000000000000" pitchFamily="2" charset="2"/>
              </a:rPr>
              <a:t>		B</a:t>
            </a:r>
          </a:p>
          <a:p>
            <a:r>
              <a:rPr lang="en-US">
                <a:sym typeface="Wingdings" panose="05000000000000000000" pitchFamily="2" charset="2"/>
              </a:rPr>
              <a:t>			2.1  2.6</a:t>
            </a:r>
            <a:endParaRPr lang="en-US"/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CB64C86D-D594-4DDC-915B-3B2A1366CA21}"/>
              </a:ext>
            </a:extLst>
          </p:cNvPr>
          <p:cNvCxnSpPr/>
          <p:nvPr/>
        </p:nvCxnSpPr>
        <p:spPr>
          <a:xfrm>
            <a:off x="2921511" y="4590022"/>
            <a:ext cx="0" cy="9199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A281B006-3B30-4E86-B90C-437805082A02}"/>
              </a:ext>
            </a:extLst>
          </p:cNvPr>
          <p:cNvCxnSpPr>
            <a:cxnSpLocks/>
          </p:cNvCxnSpPr>
          <p:nvPr/>
        </p:nvCxnSpPr>
        <p:spPr>
          <a:xfrm>
            <a:off x="2921510" y="4863638"/>
            <a:ext cx="52574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21B384D2-5ACF-4E16-B35F-BA585AE80213}"/>
              </a:ext>
            </a:extLst>
          </p:cNvPr>
          <p:cNvCxnSpPr>
            <a:cxnSpLocks/>
          </p:cNvCxnSpPr>
          <p:nvPr/>
        </p:nvCxnSpPr>
        <p:spPr>
          <a:xfrm>
            <a:off x="3447259" y="4863638"/>
            <a:ext cx="1" cy="64632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0136D6C2-2611-472A-9D1B-508A69E8E3DB}"/>
              </a:ext>
            </a:extLst>
          </p:cNvPr>
          <p:cNvCxnSpPr/>
          <p:nvPr/>
        </p:nvCxnSpPr>
        <p:spPr>
          <a:xfrm>
            <a:off x="3447260" y="5140629"/>
            <a:ext cx="11074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5883C5BB-4B81-4189-B12B-11C5A79B9C23}"/>
              </a:ext>
            </a:extLst>
          </p:cNvPr>
          <p:cNvSpPr txBox="1"/>
          <p:nvPr/>
        </p:nvSpPr>
        <p:spPr>
          <a:xfrm>
            <a:off x="2093536" y="3478643"/>
            <a:ext cx="2488289" cy="92333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/>
              <a:t>1 </a:t>
            </a:r>
            <a:r>
              <a:rPr lang="en-US">
                <a:sym typeface="Wingdings" panose="05000000000000000000" pitchFamily="2" charset="2"/>
              </a:rPr>
              <a:t> 3</a:t>
            </a:r>
          </a:p>
          <a:p>
            <a:r>
              <a:rPr lang="en-US">
                <a:sym typeface="Wingdings" panose="05000000000000000000" pitchFamily="2" charset="2"/>
              </a:rPr>
              <a:t>		A</a:t>
            </a:r>
          </a:p>
          <a:p>
            <a:r>
              <a:rPr lang="en-US">
                <a:sym typeface="Wingdings" panose="05000000000000000000" pitchFamily="2" charset="2"/>
              </a:rPr>
              <a:t>			2.1  2.6</a:t>
            </a:r>
            <a:endParaRPr lang="en-US"/>
          </a:p>
        </p:txBody>
      </p: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6B9C6A10-25BB-4F50-8B53-966B976332D4}"/>
              </a:ext>
            </a:extLst>
          </p:cNvPr>
          <p:cNvCxnSpPr/>
          <p:nvPr/>
        </p:nvCxnSpPr>
        <p:spPr>
          <a:xfrm>
            <a:off x="2921510" y="3482031"/>
            <a:ext cx="0" cy="91994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B616B9E3-82FE-4765-AD27-927FAAFB77A5}"/>
              </a:ext>
            </a:extLst>
          </p:cNvPr>
          <p:cNvCxnSpPr>
            <a:cxnSpLocks/>
          </p:cNvCxnSpPr>
          <p:nvPr/>
        </p:nvCxnSpPr>
        <p:spPr>
          <a:xfrm>
            <a:off x="2948592" y="3520190"/>
            <a:ext cx="52574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55B6FCE2-02BB-4A44-A662-573DD9D997A2}"/>
              </a:ext>
            </a:extLst>
          </p:cNvPr>
          <p:cNvCxnSpPr>
            <a:cxnSpLocks/>
          </p:cNvCxnSpPr>
          <p:nvPr/>
        </p:nvCxnSpPr>
        <p:spPr>
          <a:xfrm>
            <a:off x="3447259" y="3520190"/>
            <a:ext cx="0" cy="88178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E4473748-218F-4248-98A1-557AA37B16AC}"/>
              </a:ext>
            </a:extLst>
          </p:cNvPr>
          <p:cNvCxnSpPr/>
          <p:nvPr/>
        </p:nvCxnSpPr>
        <p:spPr>
          <a:xfrm>
            <a:off x="3474341" y="3473853"/>
            <a:ext cx="1107483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5462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DD13E4-95CF-4CE3-B291-6C824ABBE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9036" y="5821517"/>
            <a:ext cx="542697" cy="279400"/>
          </a:xfrm>
        </p:spPr>
        <p:txBody>
          <a:bodyPr/>
          <a:lstStyle/>
          <a:p>
            <a:fld id="{C59D3ED6-15A1-4F13-869E-D1FA5584FF26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759474-EE96-412C-B69D-7057580BF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289193"/>
              </p:ext>
            </p:extLst>
          </p:nvPr>
        </p:nvGraphicFramePr>
        <p:xfrm>
          <a:off x="914798" y="1569635"/>
          <a:ext cx="9995586" cy="3377071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665931">
                  <a:extLst>
                    <a:ext uri="{9D8B030D-6E8A-4147-A177-3AD203B41FA5}">
                      <a16:colId xmlns:a16="http://schemas.microsoft.com/office/drawing/2014/main" val="2936940375"/>
                    </a:ext>
                  </a:extLst>
                </a:gridCol>
                <a:gridCol w="1665931">
                  <a:extLst>
                    <a:ext uri="{9D8B030D-6E8A-4147-A177-3AD203B41FA5}">
                      <a16:colId xmlns:a16="http://schemas.microsoft.com/office/drawing/2014/main" val="42907431"/>
                    </a:ext>
                  </a:extLst>
                </a:gridCol>
                <a:gridCol w="1665931">
                  <a:extLst>
                    <a:ext uri="{9D8B030D-6E8A-4147-A177-3AD203B41FA5}">
                      <a16:colId xmlns:a16="http://schemas.microsoft.com/office/drawing/2014/main" val="1880908150"/>
                    </a:ext>
                  </a:extLst>
                </a:gridCol>
                <a:gridCol w="1665931">
                  <a:extLst>
                    <a:ext uri="{9D8B030D-6E8A-4147-A177-3AD203B41FA5}">
                      <a16:colId xmlns:a16="http://schemas.microsoft.com/office/drawing/2014/main" val="719532570"/>
                    </a:ext>
                  </a:extLst>
                </a:gridCol>
                <a:gridCol w="1665931">
                  <a:extLst>
                    <a:ext uri="{9D8B030D-6E8A-4147-A177-3AD203B41FA5}">
                      <a16:colId xmlns:a16="http://schemas.microsoft.com/office/drawing/2014/main" val="15775627"/>
                    </a:ext>
                  </a:extLst>
                </a:gridCol>
                <a:gridCol w="1665931">
                  <a:extLst>
                    <a:ext uri="{9D8B030D-6E8A-4147-A177-3AD203B41FA5}">
                      <a16:colId xmlns:a16="http://schemas.microsoft.com/office/drawing/2014/main" val="2468612685"/>
                    </a:ext>
                  </a:extLst>
                </a:gridCol>
              </a:tblGrid>
              <a:tr h="160867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Dataset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Model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Accuracy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Recall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Precision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F1 score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5909085"/>
                  </a:ext>
                </a:extLst>
              </a:tr>
              <a:tr h="30162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Data set1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Decision Tree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0.7183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0.5935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0.7068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0.587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9182210"/>
                  </a:ext>
                </a:extLst>
              </a:tr>
              <a:tr h="301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</a:rPr>
                        <a:t>Random Forest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</a:rPr>
                        <a:t>0.6754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</a:rPr>
                        <a:t>0.5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</a:rPr>
                        <a:t>0.3377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</a:rPr>
                        <a:t>0.4031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8591747"/>
                  </a:ext>
                </a:extLst>
              </a:tr>
              <a:tr h="4490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Gradient Boosted Tree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0.721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0.5979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0.7114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0.5931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5043575"/>
                  </a:ext>
                </a:extLst>
              </a:tr>
              <a:tr h="30162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Data set2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Decision Tree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0.717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0.6029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0.6888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0.6025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963434"/>
                  </a:ext>
                </a:extLst>
              </a:tr>
              <a:tr h="301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Random Forest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0.6754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0.3377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0.4031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878800"/>
                  </a:ext>
                </a:extLst>
              </a:tr>
              <a:tr h="4490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Gradient Boosted Tree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0.7203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0.602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0.7017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0.5999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2837165"/>
                  </a:ext>
                </a:extLst>
              </a:tr>
              <a:tr h="30162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Data set3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Decision Tree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0.717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0.6029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0.6888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0.6025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4019685"/>
                  </a:ext>
                </a:extLst>
              </a:tr>
              <a:tr h="301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Random Forest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0.6754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0.3377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0.4031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830105"/>
                  </a:ext>
                </a:extLst>
              </a:tr>
              <a:tr h="4490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Gradient Boosted Tree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0.7192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0.6988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0.5988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87827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EBDEADC-9880-493E-890F-D086A42D5FEE}"/>
              </a:ext>
            </a:extLst>
          </p:cNvPr>
          <p:cNvSpPr txBox="1"/>
          <p:nvPr/>
        </p:nvSpPr>
        <p:spPr>
          <a:xfrm>
            <a:off x="5132439" y="1079401"/>
            <a:ext cx="4277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Scenario A</a:t>
            </a:r>
          </a:p>
        </p:txBody>
      </p:sp>
    </p:spTree>
    <p:extLst>
      <p:ext uri="{BB962C8B-B14F-4D97-AF65-F5344CB8AC3E}">
        <p14:creationId xmlns:p14="http://schemas.microsoft.com/office/powerpoint/2010/main" val="2775098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67AD42-CF78-481A-898C-47869DBC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D3ED6-15A1-4F13-869E-D1FA5584FF26}" type="slidenum">
              <a:rPr lang="en-US" smtClean="0"/>
              <a:t>22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AFAA03-98E3-45FF-8EB4-DD477DD1B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5DCCC4-E9A2-485F-B5CC-FBE6D0EE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1638113"/>
              </p:ext>
            </p:extLst>
          </p:nvPr>
        </p:nvGraphicFramePr>
        <p:xfrm>
          <a:off x="1046042" y="1525910"/>
          <a:ext cx="10329882" cy="3377071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721647">
                  <a:extLst>
                    <a:ext uri="{9D8B030D-6E8A-4147-A177-3AD203B41FA5}">
                      <a16:colId xmlns:a16="http://schemas.microsoft.com/office/drawing/2014/main" val="302559879"/>
                    </a:ext>
                  </a:extLst>
                </a:gridCol>
                <a:gridCol w="1721647">
                  <a:extLst>
                    <a:ext uri="{9D8B030D-6E8A-4147-A177-3AD203B41FA5}">
                      <a16:colId xmlns:a16="http://schemas.microsoft.com/office/drawing/2014/main" val="814383021"/>
                    </a:ext>
                  </a:extLst>
                </a:gridCol>
                <a:gridCol w="1721647">
                  <a:extLst>
                    <a:ext uri="{9D8B030D-6E8A-4147-A177-3AD203B41FA5}">
                      <a16:colId xmlns:a16="http://schemas.microsoft.com/office/drawing/2014/main" val="1461570939"/>
                    </a:ext>
                  </a:extLst>
                </a:gridCol>
                <a:gridCol w="1721647">
                  <a:extLst>
                    <a:ext uri="{9D8B030D-6E8A-4147-A177-3AD203B41FA5}">
                      <a16:colId xmlns:a16="http://schemas.microsoft.com/office/drawing/2014/main" val="3832803819"/>
                    </a:ext>
                  </a:extLst>
                </a:gridCol>
                <a:gridCol w="1721647">
                  <a:extLst>
                    <a:ext uri="{9D8B030D-6E8A-4147-A177-3AD203B41FA5}">
                      <a16:colId xmlns:a16="http://schemas.microsoft.com/office/drawing/2014/main" val="1066525564"/>
                    </a:ext>
                  </a:extLst>
                </a:gridCol>
                <a:gridCol w="1721647">
                  <a:extLst>
                    <a:ext uri="{9D8B030D-6E8A-4147-A177-3AD203B41FA5}">
                      <a16:colId xmlns:a16="http://schemas.microsoft.com/office/drawing/2014/main" val="1788959100"/>
                    </a:ext>
                  </a:extLst>
                </a:gridCol>
              </a:tblGrid>
              <a:tr h="16086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Data set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Model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Accuracy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Precision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Recall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F1 score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extLst>
                  <a:ext uri="{0D108BD9-81ED-4DB2-BD59-A6C34878D82A}">
                    <a16:rowId xmlns:a16="http://schemas.microsoft.com/office/drawing/2014/main" val="1354558262"/>
                  </a:ext>
                </a:extLst>
              </a:tr>
              <a:tr h="30162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data set1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Decision Tree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0.7254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0.593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0.7028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0.5891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extLst>
                  <a:ext uri="{0D108BD9-81ED-4DB2-BD59-A6C34878D82A}">
                    <a16:rowId xmlns:a16="http://schemas.microsoft.com/office/drawing/2014/main" val="1396744424"/>
                  </a:ext>
                </a:extLst>
              </a:tr>
              <a:tr h="301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</a:rPr>
                        <a:t>Random Forest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</a:rPr>
                        <a:t>0.7202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</a:rPr>
                        <a:t>0.5791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</a:rPr>
                        <a:t>0.7021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1" u="none" strike="noStrike">
                          <a:solidFill>
                            <a:srgbClr val="FF0000"/>
                          </a:solidFill>
                          <a:effectLst/>
                        </a:rPr>
                        <a:t>0.5677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extLst>
                  <a:ext uri="{0D108BD9-81ED-4DB2-BD59-A6C34878D82A}">
                    <a16:rowId xmlns:a16="http://schemas.microsoft.com/office/drawing/2014/main" val="3473956294"/>
                  </a:ext>
                </a:extLst>
              </a:tr>
              <a:tr h="4490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Gradient Boosted Tree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0.7292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0.6008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0.7075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0.6001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extLst>
                  <a:ext uri="{0D108BD9-81ED-4DB2-BD59-A6C34878D82A}">
                    <a16:rowId xmlns:a16="http://schemas.microsoft.com/office/drawing/2014/main" val="1653320230"/>
                  </a:ext>
                </a:extLst>
              </a:tr>
              <a:tr h="30162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data set2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Decision Tree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0.7244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0.5987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0.6921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0.5984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extLst>
                  <a:ext uri="{0D108BD9-81ED-4DB2-BD59-A6C34878D82A}">
                    <a16:rowId xmlns:a16="http://schemas.microsoft.com/office/drawing/2014/main" val="428467919"/>
                  </a:ext>
                </a:extLst>
              </a:tr>
              <a:tr h="301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Random Forest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0.7158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0.5685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0.6997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0.5504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extLst>
                  <a:ext uri="{0D108BD9-81ED-4DB2-BD59-A6C34878D82A}">
                    <a16:rowId xmlns:a16="http://schemas.microsoft.com/office/drawing/2014/main" val="1472244029"/>
                  </a:ext>
                </a:extLst>
              </a:tr>
              <a:tr h="4490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Gradient Boosted Tree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0.7263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0.6004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0.6968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0.6004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extLst>
                  <a:ext uri="{0D108BD9-81ED-4DB2-BD59-A6C34878D82A}">
                    <a16:rowId xmlns:a16="http://schemas.microsoft.com/office/drawing/2014/main" val="111588352"/>
                  </a:ext>
                </a:extLst>
              </a:tr>
              <a:tr h="30162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solidFill>
                            <a:srgbClr val="000000"/>
                          </a:solidFill>
                          <a:effectLst/>
                        </a:rPr>
                        <a:t>data set3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Decision Tree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0.7244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0.5987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0.6921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0.5984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extLst>
                  <a:ext uri="{0D108BD9-81ED-4DB2-BD59-A6C34878D82A}">
                    <a16:rowId xmlns:a16="http://schemas.microsoft.com/office/drawing/2014/main" val="3257212621"/>
                  </a:ext>
                </a:extLst>
              </a:tr>
              <a:tr h="3016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Random Forest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0.7147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0.5575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0.7271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0.5278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extLst>
                  <a:ext uri="{0D108BD9-81ED-4DB2-BD59-A6C34878D82A}">
                    <a16:rowId xmlns:a16="http://schemas.microsoft.com/office/drawing/2014/main" val="64034312"/>
                  </a:ext>
                </a:extLst>
              </a:tr>
              <a:tr h="4490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Gradient Boosted Tree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0.7263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0.6004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0.6968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0.6004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703" marR="6703" marT="6703" marB="0" anchor="ctr"/>
                </a:tc>
                <a:extLst>
                  <a:ext uri="{0D108BD9-81ED-4DB2-BD59-A6C34878D82A}">
                    <a16:rowId xmlns:a16="http://schemas.microsoft.com/office/drawing/2014/main" val="15530271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114BDAF-6B58-4B3D-BAAA-692BBE683664}"/>
              </a:ext>
            </a:extLst>
          </p:cNvPr>
          <p:cNvSpPr txBox="1"/>
          <p:nvPr/>
        </p:nvSpPr>
        <p:spPr>
          <a:xfrm>
            <a:off x="5132439" y="1079401"/>
            <a:ext cx="4277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Scenario B</a:t>
            </a:r>
          </a:p>
        </p:txBody>
      </p:sp>
    </p:spTree>
    <p:extLst>
      <p:ext uri="{BB962C8B-B14F-4D97-AF65-F5344CB8AC3E}">
        <p14:creationId xmlns:p14="http://schemas.microsoft.com/office/powerpoint/2010/main" val="1721919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Custom 3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655D6D0CA8FDC84D832AA61A199B5A80" ma:contentTypeVersion="8" ma:contentTypeDescription="Tạo tài liệu mới." ma:contentTypeScope="" ma:versionID="9c4af1a3d9cc364d7ed98b1001d389ff">
  <xsd:schema xmlns:xsd="http://www.w3.org/2001/XMLSchema" xmlns:xs="http://www.w3.org/2001/XMLSchema" xmlns:p="http://schemas.microsoft.com/office/2006/metadata/properties" xmlns:ns2="107a1573-b758-4ac8-9a5b-c19fa9bc837f" xmlns:ns3="fc8d21d2-e81b-48f3-b5a3-5cadf2a7db1f" targetNamespace="http://schemas.microsoft.com/office/2006/metadata/properties" ma:root="true" ma:fieldsID="ad5c95a743ff80fe598ba79cea74f556" ns2:_="" ns3:_="">
    <xsd:import namespace="107a1573-b758-4ac8-9a5b-c19fa9bc837f"/>
    <xsd:import namespace="fc8d21d2-e81b-48f3-b5a3-5cadf2a7db1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7a1573-b758-4ac8-9a5b-c19fa9bc83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8d21d2-e81b-48f3-b5a3-5cadf2a7db1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hia sẻ Với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Chia sẻ Có Chi tiết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8F625CA-6C44-40AB-BEDE-E9A04EDD97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3E8F35-8FA7-4AE4-8D80-32530220CAD2}"/>
</file>

<file path=customXml/itemProps3.xml><?xml version="1.0" encoding="utf-8"?>
<ds:datastoreItem xmlns:ds="http://schemas.openxmlformats.org/officeDocument/2006/customXml" ds:itemID="{3D61B530-4407-4154-9719-7D3D051F0098}">
  <ds:schemaRefs>
    <ds:schemaRef ds:uri="9c13fae4-8f0e-4bf7-bb6a-9b6c2448ce3a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7bbdbb3a-8099-4706-ae9c-41ed853a79c0"/>
    <ds:schemaRef ds:uri="http://purl.org/dc/dcmitype/"/>
    <ds:schemaRef ds:uri="http://purl.org/dc/elements/1.1/"/>
    <ds:schemaRef ds:uri="http://www.w3.org/XML/1998/namespace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0</TotalTime>
  <Words>1435</Words>
  <Application>Microsoft Office PowerPoint</Application>
  <PresentationFormat>Màn hình rộng</PresentationFormat>
  <Paragraphs>413</Paragraphs>
  <Slides>22</Slides>
  <Notes>4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4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 Math</vt:lpstr>
      <vt:lpstr>Times New Roman</vt:lpstr>
      <vt:lpstr>Organic</vt:lpstr>
      <vt:lpstr>Bản trình bày PowerPoint</vt:lpstr>
      <vt:lpstr>Table of Content </vt:lpstr>
      <vt:lpstr>INTRODUCTION</vt:lpstr>
      <vt:lpstr>Bản trình bày PowerPoint</vt:lpstr>
      <vt:lpstr>RELATED WORK</vt:lpstr>
      <vt:lpstr>METHODOLOGIES</vt:lpstr>
      <vt:lpstr>METHODOLOGIES</vt:lpstr>
      <vt:lpstr>METHODOLOGIES</vt:lpstr>
      <vt:lpstr>EXPERIMENT </vt:lpstr>
      <vt:lpstr>EXPERIMENT </vt:lpstr>
      <vt:lpstr>EXPERIMENT </vt:lpstr>
      <vt:lpstr>EXPERIMENT </vt:lpstr>
      <vt:lpstr>EXPERIMENT </vt:lpstr>
      <vt:lpstr>5.   RESULT </vt:lpstr>
      <vt:lpstr>Bản trình bày PowerPoint</vt:lpstr>
      <vt:lpstr>5.   RESULT </vt:lpstr>
      <vt:lpstr>CONCLUSION AND FUTURE WORK </vt:lpstr>
      <vt:lpstr>Bản trình bày PowerPoint</vt:lpstr>
      <vt:lpstr>ANN (512 -&gt; 256 -&gt; Dropout(0.2)-&gt;Output(2)) LR = 1e-06, Epochs = 100</vt:lpstr>
      <vt:lpstr>EXPERIMENT 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Lâm Gia Huy</dc:creator>
  <cp:lastModifiedBy>Trần Quang Linh</cp:lastModifiedBy>
  <cp:revision>2</cp:revision>
  <dcterms:created xsi:type="dcterms:W3CDTF">2021-07-20T09:26:45Z</dcterms:created>
  <dcterms:modified xsi:type="dcterms:W3CDTF">2021-07-25T15:00:27Z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0x010100655D6D0CA8FDC84D832AA61A199B5A80</vt:lpwstr>
  </property>
</Properties>
</file>