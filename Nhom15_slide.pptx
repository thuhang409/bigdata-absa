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38"/>
  </p:notesMasterIdLst>
  <p:handoutMasterIdLst>
    <p:handoutMasterId r:id="rId39"/>
  </p:handoutMasterIdLst>
  <p:sldIdLst>
    <p:sldId id="258" r:id="rId5"/>
    <p:sldId id="335" r:id="rId6"/>
    <p:sldId id="294" r:id="rId7"/>
    <p:sldId id="297" r:id="rId8"/>
    <p:sldId id="307" r:id="rId9"/>
    <p:sldId id="323" r:id="rId10"/>
    <p:sldId id="336" r:id="rId11"/>
    <p:sldId id="334" r:id="rId12"/>
    <p:sldId id="301" r:id="rId13"/>
    <p:sldId id="302" r:id="rId14"/>
    <p:sldId id="309" r:id="rId15"/>
    <p:sldId id="310" r:id="rId16"/>
    <p:sldId id="324" r:id="rId17"/>
    <p:sldId id="311" r:id="rId18"/>
    <p:sldId id="325" r:id="rId19"/>
    <p:sldId id="312" r:id="rId20"/>
    <p:sldId id="326" r:id="rId21"/>
    <p:sldId id="303" r:id="rId22"/>
    <p:sldId id="314" r:id="rId23"/>
    <p:sldId id="313" r:id="rId24"/>
    <p:sldId id="316" r:id="rId25"/>
    <p:sldId id="317" r:id="rId26"/>
    <p:sldId id="318" r:id="rId27"/>
    <p:sldId id="319" r:id="rId28"/>
    <p:sldId id="321" r:id="rId29"/>
    <p:sldId id="329" r:id="rId30"/>
    <p:sldId id="328" r:id="rId31"/>
    <p:sldId id="327" r:id="rId32"/>
    <p:sldId id="330" r:id="rId33"/>
    <p:sldId id="308" r:id="rId34"/>
    <p:sldId id="331" r:id="rId35"/>
    <p:sldId id="332" r:id="rId36"/>
    <p:sldId id="293" r:id="rId37"/>
  </p:sldIdLst>
  <p:sldSz cx="18286413" cy="10287000"/>
  <p:notesSz cx="6858000" cy="9144000"/>
  <p:photoAlbum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6FD"/>
    <a:srgbClr val="D7EDFB"/>
    <a:srgbClr val="BBFF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287" autoAdjust="0"/>
    <p:restoredTop sz="92829" autoAdjust="0"/>
  </p:normalViewPr>
  <p:slideViewPr>
    <p:cSldViewPr showGuides="1">
      <p:cViewPr varScale="1">
        <p:scale>
          <a:sx n="50" d="100"/>
          <a:sy n="50" d="100"/>
        </p:scale>
        <p:origin x="504" y="58"/>
      </p:cViewPr>
      <p:guideLst>
        <p:guide orient="horz" pos="3240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6" d="100"/>
          <a:sy n="86" d="100"/>
        </p:scale>
        <p:origin x="-38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48198-A268-4A2C-A520-FBB84E35C3C2}" type="datetimeFigureOut">
              <a:rPr kumimoji="1" lang="ja-JP" altLang="en-US" smtClean="0"/>
              <a:t>2021/7/24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83ACB-D9F9-4ADF-A7FC-E9E289D744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296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912F2-0011-47BA-B0C8-0509829BA6FB}" type="datetimeFigureOut">
              <a:rPr kumimoji="1" lang="ja-JP" altLang="en-US" smtClean="0"/>
              <a:t>2021/7/24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FB2B19-2213-4B06-9122-430E4115A3D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26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FB2B19-2213-4B06-9122-430E4115A3D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675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4320" y="4063602"/>
            <a:ext cx="16457772" cy="1440161"/>
          </a:xfrm>
        </p:spPr>
        <p:txBody>
          <a:bodyPr anchor="b">
            <a:noAutofit/>
          </a:bodyPr>
          <a:lstStyle>
            <a:lvl1pPr algn="ctr">
              <a:defRPr sz="8000" kern="0" spc="300" baseline="0"/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970757" y="5359747"/>
            <a:ext cx="16344898" cy="57584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3200" spc="1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70757" y="7159724"/>
            <a:ext cx="16344898" cy="2808312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Author</a:t>
            </a:r>
            <a:endParaRPr kumimoji="1" lang="ja-JP" altLang="en-US" dirty="0"/>
          </a:p>
        </p:txBody>
      </p:sp>
      <p:cxnSp>
        <p:nvCxnSpPr>
          <p:cNvPr id="9" name="直線コネクタ 8"/>
          <p:cNvCxnSpPr/>
          <p:nvPr/>
        </p:nvCxnSpPr>
        <p:spPr>
          <a:xfrm flipV="1">
            <a:off x="8813213" y="2263180"/>
            <a:ext cx="661574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 flipV="1">
            <a:off x="8813213" y="2623220"/>
            <a:ext cx="661574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 flipV="1">
            <a:off x="8813213" y="2983260"/>
            <a:ext cx="661574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34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4320" y="4063602"/>
            <a:ext cx="16457772" cy="1440161"/>
          </a:xfrm>
        </p:spPr>
        <p:txBody>
          <a:bodyPr anchor="b">
            <a:noAutofit/>
          </a:bodyPr>
          <a:lstStyle>
            <a:lvl1pPr algn="ctr">
              <a:defRPr sz="8000" kern="0" spc="300" baseline="0"/>
            </a:lvl1pPr>
          </a:lstStyle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970757" y="5359747"/>
            <a:ext cx="16344898" cy="575841"/>
          </a:xfrm>
        </p:spPr>
        <p:txBody>
          <a:bodyPr>
            <a:noAutofit/>
          </a:bodyPr>
          <a:lstStyle>
            <a:lvl1pPr algn="ctr">
              <a:spcBef>
                <a:spcPts val="0"/>
              </a:spcBef>
              <a:defRPr sz="3200" spc="10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970757" y="6943700"/>
            <a:ext cx="16344898" cy="3096121"/>
          </a:xfrm>
        </p:spPr>
        <p:txBody>
          <a:bodyPr anchor="t"/>
          <a:lstStyle>
            <a:lvl1pPr algn="ctr">
              <a:spcBef>
                <a:spcPts val="0"/>
              </a:spcBef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Info</a:t>
            </a:r>
            <a:endParaRPr kumimoji="1" lang="ja-JP" altLang="en-US" dirty="0"/>
          </a:p>
        </p:txBody>
      </p:sp>
      <p:cxnSp>
        <p:nvCxnSpPr>
          <p:cNvPr id="12" name="直線コネクタ 11"/>
          <p:cNvCxnSpPr/>
          <p:nvPr userDrawn="1"/>
        </p:nvCxnSpPr>
        <p:spPr>
          <a:xfrm flipV="1">
            <a:off x="8813213" y="2263180"/>
            <a:ext cx="661574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 userDrawn="1"/>
        </p:nvCxnSpPr>
        <p:spPr>
          <a:xfrm flipV="1">
            <a:off x="8813213" y="2623220"/>
            <a:ext cx="661574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 userDrawn="1"/>
        </p:nvCxnSpPr>
        <p:spPr>
          <a:xfrm flipV="1">
            <a:off x="8813213" y="2983260"/>
            <a:ext cx="661574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6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1078310" y="7735788"/>
            <a:ext cx="13557478" cy="1440161"/>
          </a:xfrm>
        </p:spPr>
        <p:txBody>
          <a:bodyPr anchor="b">
            <a:noAutofit/>
          </a:bodyPr>
          <a:lstStyle>
            <a:lvl1pPr algn="l">
              <a:defRPr sz="7200" kern="0" spc="2000" baseline="0"/>
            </a:lvl1pPr>
          </a:lstStyle>
          <a:p>
            <a:r>
              <a:rPr kumimoji="1" lang="en-US" altLang="ja-JP"/>
              <a:t>SECTION TITLE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78310" y="8959702"/>
            <a:ext cx="13464495" cy="575841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2800" spc="3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grpSp>
        <p:nvGrpSpPr>
          <p:cNvPr id="5" name="グループ化 4"/>
          <p:cNvGrpSpPr/>
          <p:nvPr userDrawn="1"/>
        </p:nvGrpSpPr>
        <p:grpSpPr>
          <a:xfrm>
            <a:off x="672671" y="6743196"/>
            <a:ext cx="661574" cy="1728192"/>
            <a:chOff x="4012746" y="1615108"/>
            <a:chExt cx="661574" cy="1728192"/>
          </a:xfrm>
        </p:grpSpPr>
        <p:cxnSp>
          <p:nvCxnSpPr>
            <p:cNvPr id="6" name="直線コネクタ 5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621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1078310" y="1111052"/>
            <a:ext cx="6192688" cy="2016224"/>
          </a:xfrm>
          <a:prstGeom prst="rect">
            <a:avLst/>
          </a:prstGeom>
        </p:spPr>
        <p:txBody>
          <a:bodyPr anchor="ctr"/>
          <a:lstStyle>
            <a:lvl1pPr algn="l">
              <a:defRPr sz="7200" spc="600" baseline="0"/>
            </a:lvl1pPr>
          </a:lstStyle>
          <a:p>
            <a:r>
              <a:rPr kumimoji="1" lang="en-US" altLang="ja-JP" dirty="0"/>
              <a:t>HISTORY</a:t>
            </a:r>
            <a:endParaRPr kumimoji="1" lang="ja-JP" altLang="en-US" dirty="0"/>
          </a:p>
        </p:txBody>
      </p:sp>
      <p:grpSp>
        <p:nvGrpSpPr>
          <p:cNvPr id="4" name="グループ化 3"/>
          <p:cNvGrpSpPr/>
          <p:nvPr userDrawn="1"/>
        </p:nvGrpSpPr>
        <p:grpSpPr>
          <a:xfrm>
            <a:off x="574254" y="462980"/>
            <a:ext cx="661574" cy="1728192"/>
            <a:chOff x="4012746" y="1615108"/>
            <a:chExt cx="661574" cy="1728192"/>
          </a:xfrm>
        </p:grpSpPr>
        <p:cxnSp>
          <p:nvCxnSpPr>
            <p:cNvPr id="5" name="直線コネクタ 4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コネクタ 5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直線コネクタ 8"/>
          <p:cNvCxnSpPr/>
          <p:nvPr userDrawn="1"/>
        </p:nvCxnSpPr>
        <p:spPr>
          <a:xfrm>
            <a:off x="9144000" y="0"/>
            <a:ext cx="0" cy="1028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円/楕円 9"/>
          <p:cNvSpPr/>
          <p:nvPr userDrawn="1"/>
        </p:nvSpPr>
        <p:spPr>
          <a:xfrm>
            <a:off x="8891972" y="1219064"/>
            <a:ext cx="504056" cy="5040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503246" y="823020"/>
            <a:ext cx="4176464" cy="129614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80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9999</a:t>
            </a:r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503246" y="1903140"/>
            <a:ext cx="8280920" cy="165618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8891972" y="4315408"/>
            <a:ext cx="504056" cy="5040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589208" y="3919364"/>
            <a:ext cx="4176464" cy="1296144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80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9999</a:t>
            </a: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02246" y="4999484"/>
            <a:ext cx="8280920" cy="1656184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8891972" y="7339744"/>
            <a:ext cx="504056" cy="5040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503246" y="6943700"/>
            <a:ext cx="4176464" cy="129614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80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9999</a:t>
            </a: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3246" y="8023820"/>
            <a:ext cx="8280920" cy="165618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8971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10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/>
          <p:cNvCxnSpPr/>
          <p:nvPr userDrawn="1"/>
        </p:nvCxnSpPr>
        <p:spPr>
          <a:xfrm>
            <a:off x="9144000" y="0"/>
            <a:ext cx="0" cy="1028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円/楕円 15"/>
          <p:cNvSpPr/>
          <p:nvPr userDrawn="1"/>
        </p:nvSpPr>
        <p:spPr>
          <a:xfrm>
            <a:off x="8891972" y="1219064"/>
            <a:ext cx="504056" cy="5040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589208" y="823020"/>
            <a:ext cx="4176464" cy="1296144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80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9999</a:t>
            </a:r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02246" y="1903140"/>
            <a:ext cx="8280920" cy="1656184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8891972" y="4243400"/>
            <a:ext cx="504056" cy="5040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503246" y="3847356"/>
            <a:ext cx="4176464" cy="1296144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80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9999</a:t>
            </a: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3246" y="4927476"/>
            <a:ext cx="8280920" cy="165618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8891972" y="7339744"/>
            <a:ext cx="504056" cy="5040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4589208" y="6943700"/>
            <a:ext cx="4176464" cy="1296144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80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9999</a:t>
            </a:r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02246" y="8023820"/>
            <a:ext cx="8280920" cy="1656184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71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5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3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800"/>
                            </p:stCondLst>
                            <p:childTnLst>
                              <p:par>
                                <p:cTn id="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4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tfol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142503" y="175245"/>
            <a:ext cx="3888135" cy="388813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4174951" y="174948"/>
            <a:ext cx="8856687" cy="388813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7" hasCustomPrompt="1"/>
          </p:nvPr>
        </p:nvSpPr>
        <p:spPr>
          <a:xfrm>
            <a:off x="142206" y="4207396"/>
            <a:ext cx="6480720" cy="590465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2" name="図プレースホルダー 9"/>
          <p:cNvSpPr>
            <a:spLocks noGrp="1"/>
          </p:cNvSpPr>
          <p:nvPr>
            <p:ph type="pic" sz="quarter" idx="18" hasCustomPrompt="1"/>
          </p:nvPr>
        </p:nvSpPr>
        <p:spPr>
          <a:xfrm>
            <a:off x="6766942" y="4207396"/>
            <a:ext cx="2880320" cy="2952328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3" name="図プレースホルダー 9"/>
          <p:cNvSpPr>
            <a:spLocks noGrp="1"/>
          </p:cNvSpPr>
          <p:nvPr>
            <p:ph type="pic" sz="quarter" idx="19" hasCustomPrompt="1"/>
          </p:nvPr>
        </p:nvSpPr>
        <p:spPr>
          <a:xfrm>
            <a:off x="6766942" y="7303740"/>
            <a:ext cx="11377264" cy="2808312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4" name="図プレースホルダー 9"/>
          <p:cNvSpPr>
            <a:spLocks noGrp="1"/>
          </p:cNvSpPr>
          <p:nvPr>
            <p:ph type="pic" sz="quarter" idx="20" hasCustomPrompt="1"/>
          </p:nvPr>
        </p:nvSpPr>
        <p:spPr>
          <a:xfrm>
            <a:off x="13175654" y="174948"/>
            <a:ext cx="4968552" cy="3888135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863286" y="4423420"/>
            <a:ext cx="8280920" cy="1368152"/>
          </a:xfrm>
        </p:spPr>
        <p:txBody>
          <a:bodyPr anchor="b">
            <a:noAutofit/>
          </a:bodyPr>
          <a:lstStyle>
            <a:lvl1pPr algn="l">
              <a:spcBef>
                <a:spcPts val="0"/>
              </a:spcBef>
              <a:defRPr sz="7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863286" y="5647556"/>
            <a:ext cx="8280920" cy="1296144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1996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78310" y="4128411"/>
            <a:ext cx="6192688" cy="2016224"/>
          </a:xfrm>
          <a:prstGeom prst="rect">
            <a:avLst/>
          </a:prstGeom>
        </p:spPr>
        <p:txBody>
          <a:bodyPr anchor="ctr"/>
          <a:lstStyle>
            <a:lvl1pPr algn="l">
              <a:defRPr sz="72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 userDrawn="1"/>
        </p:nvGrpSpPr>
        <p:grpSpPr>
          <a:xfrm>
            <a:off x="6838950" y="1263127"/>
            <a:ext cx="1552133" cy="1728192"/>
            <a:chOff x="7054974" y="1111052"/>
            <a:chExt cx="1552133" cy="1728192"/>
          </a:xfrm>
        </p:grpSpPr>
        <p:sp>
          <p:nvSpPr>
            <p:cNvPr id="5" name="テキスト ボックス 4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8" name="直線コネクタ 7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/>
          <p:cNvGrpSpPr/>
          <p:nvPr userDrawn="1"/>
        </p:nvGrpSpPr>
        <p:grpSpPr>
          <a:xfrm>
            <a:off x="6838950" y="3351359"/>
            <a:ext cx="1552133" cy="1728192"/>
            <a:chOff x="7054974" y="1111052"/>
            <a:chExt cx="1552133" cy="1728192"/>
          </a:xfrm>
        </p:grpSpPr>
        <p:sp>
          <p:nvSpPr>
            <p:cNvPr id="15" name="テキスト ボックス 14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6" name="直線コネクタ 15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/>
          <p:cNvGrpSpPr/>
          <p:nvPr userDrawn="1"/>
        </p:nvGrpSpPr>
        <p:grpSpPr>
          <a:xfrm>
            <a:off x="6838950" y="5439591"/>
            <a:ext cx="1552133" cy="1728192"/>
            <a:chOff x="7054974" y="1111052"/>
            <a:chExt cx="1552133" cy="1728192"/>
          </a:xfrm>
        </p:grpSpPr>
        <p:sp>
          <p:nvSpPr>
            <p:cNvPr id="18" name="テキスト ボックス 17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9" name="直線コネクタ 18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グループ化 19"/>
          <p:cNvGrpSpPr/>
          <p:nvPr userDrawn="1"/>
        </p:nvGrpSpPr>
        <p:grpSpPr>
          <a:xfrm>
            <a:off x="6838950" y="7527823"/>
            <a:ext cx="1552133" cy="1728192"/>
            <a:chOff x="7054974" y="1111052"/>
            <a:chExt cx="1552133" cy="1728192"/>
          </a:xfrm>
        </p:grpSpPr>
        <p:sp>
          <p:nvSpPr>
            <p:cNvPr id="21" name="テキスト ボックス 20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4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22" name="直線コネクタ 21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67142" y="1176083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567142" y="1953135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567142" y="3247650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567142" y="4024702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567142" y="5319217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8567142" y="6096269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8567142" y="7390784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567142" y="8167836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grpSp>
        <p:nvGrpSpPr>
          <p:cNvPr id="31" name="グループ化 30"/>
          <p:cNvGrpSpPr/>
          <p:nvPr userDrawn="1"/>
        </p:nvGrpSpPr>
        <p:grpSpPr>
          <a:xfrm>
            <a:off x="574254" y="3480339"/>
            <a:ext cx="661574" cy="1728192"/>
            <a:chOff x="4012746" y="1615108"/>
            <a:chExt cx="661574" cy="1728192"/>
          </a:xfrm>
        </p:grpSpPr>
        <p:cxnSp>
          <p:nvCxnSpPr>
            <p:cNvPr id="32" name="直線コネクタ 31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529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6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78310" y="4111746"/>
            <a:ext cx="6192688" cy="2016224"/>
          </a:xfrm>
          <a:prstGeom prst="rect">
            <a:avLst/>
          </a:prstGeom>
        </p:spPr>
        <p:txBody>
          <a:bodyPr anchor="ctr"/>
          <a:lstStyle>
            <a:lvl1pPr algn="l">
              <a:defRPr sz="72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 userDrawn="1"/>
        </p:nvGrpSpPr>
        <p:grpSpPr>
          <a:xfrm>
            <a:off x="6838950" y="2110558"/>
            <a:ext cx="1552133" cy="1728192"/>
            <a:chOff x="7054974" y="1111052"/>
            <a:chExt cx="1552133" cy="1728192"/>
          </a:xfrm>
        </p:grpSpPr>
        <p:sp>
          <p:nvSpPr>
            <p:cNvPr id="5" name="テキスト ボックス 4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8" name="直線コネクタ 7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/>
          <p:cNvGrpSpPr/>
          <p:nvPr userDrawn="1"/>
        </p:nvGrpSpPr>
        <p:grpSpPr>
          <a:xfrm>
            <a:off x="6838950" y="4198790"/>
            <a:ext cx="1552133" cy="1728192"/>
            <a:chOff x="7054974" y="1111052"/>
            <a:chExt cx="1552133" cy="1728192"/>
          </a:xfrm>
        </p:grpSpPr>
        <p:sp>
          <p:nvSpPr>
            <p:cNvPr id="15" name="テキスト ボックス 14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6" name="直線コネクタ 15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/>
          <p:cNvGrpSpPr/>
          <p:nvPr userDrawn="1"/>
        </p:nvGrpSpPr>
        <p:grpSpPr>
          <a:xfrm>
            <a:off x="6838950" y="6287022"/>
            <a:ext cx="1552133" cy="1728192"/>
            <a:chOff x="7054974" y="1111052"/>
            <a:chExt cx="1552133" cy="1728192"/>
          </a:xfrm>
        </p:grpSpPr>
        <p:sp>
          <p:nvSpPr>
            <p:cNvPr id="18" name="テキスト ボックス 17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3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9" name="直線コネクタ 18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67142" y="2023514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567142" y="2800566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567142" y="4095081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567142" y="4872133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567142" y="6166648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8567142" y="6943700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grpSp>
        <p:nvGrpSpPr>
          <p:cNvPr id="31" name="グループ化 30"/>
          <p:cNvGrpSpPr/>
          <p:nvPr userDrawn="1"/>
        </p:nvGrpSpPr>
        <p:grpSpPr>
          <a:xfrm>
            <a:off x="574254" y="3463674"/>
            <a:ext cx="661574" cy="1728192"/>
            <a:chOff x="4012746" y="1615108"/>
            <a:chExt cx="661574" cy="1728192"/>
          </a:xfrm>
        </p:grpSpPr>
        <p:cxnSp>
          <p:nvCxnSpPr>
            <p:cNvPr id="32" name="直線コネクタ 31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142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5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78310" y="4111746"/>
            <a:ext cx="6192688" cy="2016224"/>
          </a:xfrm>
          <a:prstGeom prst="rect">
            <a:avLst/>
          </a:prstGeom>
        </p:spPr>
        <p:txBody>
          <a:bodyPr anchor="ctr"/>
          <a:lstStyle>
            <a:lvl1pPr algn="l">
              <a:defRPr sz="72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 userDrawn="1"/>
        </p:nvGrpSpPr>
        <p:grpSpPr>
          <a:xfrm>
            <a:off x="6838950" y="3318029"/>
            <a:ext cx="1552133" cy="1728192"/>
            <a:chOff x="7054974" y="1111052"/>
            <a:chExt cx="1552133" cy="1728192"/>
          </a:xfrm>
        </p:grpSpPr>
        <p:sp>
          <p:nvSpPr>
            <p:cNvPr id="5" name="テキスト ボックス 4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1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8" name="直線コネクタ 7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/>
          <p:cNvGrpSpPr/>
          <p:nvPr userDrawn="1"/>
        </p:nvGrpSpPr>
        <p:grpSpPr>
          <a:xfrm>
            <a:off x="6838950" y="5406261"/>
            <a:ext cx="1552133" cy="1728192"/>
            <a:chOff x="7054974" y="1111052"/>
            <a:chExt cx="1552133" cy="1728192"/>
          </a:xfrm>
        </p:grpSpPr>
        <p:sp>
          <p:nvSpPr>
            <p:cNvPr id="15" name="テキスト ボックス 14"/>
            <p:cNvSpPr txBox="1"/>
            <p:nvPr userDrawn="1"/>
          </p:nvSpPr>
          <p:spPr>
            <a:xfrm>
              <a:off x="7054974" y="1190318"/>
              <a:ext cx="140811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9600" dirty="0">
                  <a:solidFill>
                    <a:schemeClr val="tx1">
                      <a:lumMod val="50000"/>
                    </a:schemeClr>
                  </a:solidFill>
                </a:rPr>
                <a:t>2</a:t>
              </a:r>
              <a:endParaRPr kumimoji="1" lang="ja-JP" altLang="en-US" sz="96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cxnSp>
          <p:nvCxnSpPr>
            <p:cNvPr id="16" name="直線コネクタ 15"/>
            <p:cNvCxnSpPr/>
            <p:nvPr userDrawn="1"/>
          </p:nvCxnSpPr>
          <p:spPr>
            <a:xfrm flipV="1">
              <a:off x="8607107" y="1111052"/>
              <a:ext cx="0" cy="172819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67142" y="3230985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567142" y="4008037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567142" y="5302552"/>
            <a:ext cx="8568952" cy="864096"/>
          </a:xfrm>
        </p:spPr>
        <p:txBody>
          <a:bodyPr anchor="b">
            <a:normAutofit/>
          </a:bodyPr>
          <a:lstStyle>
            <a:lvl1pPr algn="l">
              <a:spcBef>
                <a:spcPts val="0"/>
              </a:spcBef>
              <a:defRPr sz="40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567142" y="6079604"/>
            <a:ext cx="8568952" cy="1224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  <a:br>
              <a:rPr kumimoji="1" lang="en-US" altLang="ja-JP" dirty="0"/>
            </a:br>
            <a:endParaRPr kumimoji="1" lang="en-US" altLang="ja-JP" dirty="0"/>
          </a:p>
        </p:txBody>
      </p:sp>
      <p:grpSp>
        <p:nvGrpSpPr>
          <p:cNvPr id="31" name="グループ化 30"/>
          <p:cNvGrpSpPr/>
          <p:nvPr userDrawn="1"/>
        </p:nvGrpSpPr>
        <p:grpSpPr>
          <a:xfrm>
            <a:off x="574254" y="3463674"/>
            <a:ext cx="661574" cy="1728192"/>
            <a:chOff x="4012746" y="1615108"/>
            <a:chExt cx="661574" cy="1728192"/>
          </a:xfrm>
        </p:grpSpPr>
        <p:cxnSp>
          <p:nvCxnSpPr>
            <p:cNvPr id="32" name="直線コネクタ 31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621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90278" y="4274836"/>
            <a:ext cx="5904656" cy="1354388"/>
          </a:xfrm>
          <a:prstGeom prst="rect">
            <a:avLst/>
          </a:prstGeom>
        </p:spPr>
        <p:txBody>
          <a:bodyPr anchor="t"/>
          <a:lstStyle>
            <a:lvl1pPr algn="r">
              <a:defRPr sz="7200" spc="600" baseline="0"/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7555502" y="3991372"/>
            <a:ext cx="10372680" cy="176668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</a:p>
        </p:txBody>
      </p:sp>
      <p:grpSp>
        <p:nvGrpSpPr>
          <p:cNvPr id="31" name="グループ化 30"/>
          <p:cNvGrpSpPr/>
          <p:nvPr userDrawn="1"/>
        </p:nvGrpSpPr>
        <p:grpSpPr>
          <a:xfrm>
            <a:off x="6838950" y="3919364"/>
            <a:ext cx="661574" cy="1728192"/>
            <a:chOff x="4012746" y="1615108"/>
            <a:chExt cx="661574" cy="1728192"/>
          </a:xfrm>
        </p:grpSpPr>
        <p:cxnSp>
          <p:nvCxnSpPr>
            <p:cNvPr id="32" name="直線コネクタ 31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913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 userDrawn="1"/>
        </p:nvSpPr>
        <p:spPr>
          <a:xfrm>
            <a:off x="30368" y="5143500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881" y="890144"/>
            <a:ext cx="7344527" cy="5020114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14" y="890144"/>
            <a:ext cx="7344527" cy="5020114"/>
          </a:xfrm>
          <a:prstGeom prst="rect">
            <a:avLst/>
          </a:prstGeom>
        </p:spPr>
      </p:pic>
      <p:sp>
        <p:nvSpPr>
          <p:cNvPr id="9" name="図プレースホルダー 8"/>
          <p:cNvSpPr>
            <a:spLocks noGrp="1"/>
          </p:cNvSpPr>
          <p:nvPr>
            <p:ph type="pic" sz="quarter" idx="10" hasCustomPrompt="1"/>
          </p:nvPr>
        </p:nvSpPr>
        <p:spPr>
          <a:xfrm>
            <a:off x="1077913" y="1111250"/>
            <a:ext cx="5617021" cy="3671888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0" name="図プレースホルダー 8"/>
          <p:cNvSpPr>
            <a:spLocks noGrp="1"/>
          </p:cNvSpPr>
          <p:nvPr>
            <p:ph type="pic" sz="quarter" idx="11" hasCustomPrompt="1"/>
          </p:nvPr>
        </p:nvSpPr>
        <p:spPr>
          <a:xfrm>
            <a:off x="11488633" y="1111052"/>
            <a:ext cx="5617021" cy="3671888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1366342" y="6799684"/>
            <a:ext cx="16201800" cy="10801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 userDrawn="1"/>
        </p:nvGrpSpPr>
        <p:grpSpPr>
          <a:xfrm>
            <a:off x="862286" y="5791572"/>
            <a:ext cx="661574" cy="1728192"/>
            <a:chOff x="4012746" y="1615108"/>
            <a:chExt cx="661574" cy="1728192"/>
          </a:xfrm>
        </p:grpSpPr>
        <p:cxnSp>
          <p:nvCxnSpPr>
            <p:cNvPr id="14" name="直線コネクタ 13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66342" y="7735788"/>
            <a:ext cx="16201800" cy="194421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4462686" y="691694"/>
            <a:ext cx="8713511" cy="6130764"/>
          </a:xfr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5419147" y="967036"/>
            <a:ext cx="6800589" cy="4320480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316325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7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ni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 userDrawn="1"/>
        </p:nvSpPr>
        <p:spPr>
          <a:xfrm>
            <a:off x="30368" y="5143500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654" y="511247"/>
            <a:ext cx="8568014" cy="5856389"/>
          </a:xfrm>
          <a:prstGeom prst="rect">
            <a:avLst/>
          </a:prstGeom>
        </p:spPr>
      </p:pic>
      <p:sp>
        <p:nvSpPr>
          <p:cNvPr id="10" name="図プレースホルダー 8"/>
          <p:cNvSpPr>
            <a:spLocks noGrp="1"/>
          </p:cNvSpPr>
          <p:nvPr>
            <p:ph type="pic" sz="quarter" idx="11" hasCustomPrompt="1"/>
          </p:nvPr>
        </p:nvSpPr>
        <p:spPr>
          <a:xfrm>
            <a:off x="5110758" y="764182"/>
            <a:ext cx="6696744" cy="4283569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1366342" y="6799684"/>
            <a:ext cx="16201800" cy="10801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13" name="グループ化 12"/>
          <p:cNvGrpSpPr/>
          <p:nvPr userDrawn="1"/>
        </p:nvGrpSpPr>
        <p:grpSpPr>
          <a:xfrm>
            <a:off x="862286" y="5791572"/>
            <a:ext cx="661574" cy="1728192"/>
            <a:chOff x="4012746" y="1615108"/>
            <a:chExt cx="661574" cy="1728192"/>
          </a:xfrm>
        </p:grpSpPr>
        <p:cxnSp>
          <p:nvCxnSpPr>
            <p:cNvPr id="14" name="直線コネクタ 13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66342" y="7735788"/>
            <a:ext cx="16201800" cy="194421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10" y="2388840"/>
            <a:ext cx="1812335" cy="3762772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574" y="1112079"/>
            <a:ext cx="3556895" cy="5029200"/>
          </a:xfrm>
          <a:prstGeom prst="rect">
            <a:avLst/>
          </a:prstGeom>
        </p:spPr>
      </p:pic>
      <p:sp>
        <p:nvSpPr>
          <p:cNvPr id="18" name="図プレースホルダー 8"/>
          <p:cNvSpPr>
            <a:spLocks noGrp="1"/>
          </p:cNvSpPr>
          <p:nvPr>
            <p:ph type="pic" sz="quarter" idx="17" hasCustomPrompt="1"/>
          </p:nvPr>
        </p:nvSpPr>
        <p:spPr>
          <a:xfrm>
            <a:off x="3022526" y="2876155"/>
            <a:ext cx="1512168" cy="2771401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20" name="図プレースホルダー 8"/>
          <p:cNvSpPr>
            <a:spLocks noGrp="1"/>
          </p:cNvSpPr>
          <p:nvPr>
            <p:ph type="pic" sz="quarter" idx="18" hasCustomPrompt="1"/>
          </p:nvPr>
        </p:nvSpPr>
        <p:spPr>
          <a:xfrm>
            <a:off x="12722021" y="1615108"/>
            <a:ext cx="3024000" cy="4032448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349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/>
      <p:bldP spid="2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8286413" cy="643964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1366342" y="7735788"/>
            <a:ext cx="16201800" cy="10801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62286" y="6727676"/>
            <a:ext cx="661574" cy="1728192"/>
            <a:chOff x="4012746" y="1615108"/>
            <a:chExt cx="661574" cy="1728192"/>
          </a:xfrm>
        </p:grpSpPr>
        <p:cxnSp>
          <p:nvCxnSpPr>
            <p:cNvPr id="7" name="直線コネクタ 6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366342" y="8671892"/>
            <a:ext cx="16201800" cy="122413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30940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2413" cy="10286999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5" name="タイトル 1"/>
          <p:cNvSpPr>
            <a:spLocks noGrp="1"/>
          </p:cNvSpPr>
          <p:nvPr>
            <p:ph type="title" hasCustomPrompt="1"/>
          </p:nvPr>
        </p:nvSpPr>
        <p:spPr>
          <a:xfrm>
            <a:off x="10007302" y="3805742"/>
            <a:ext cx="7632848" cy="10801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60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9503246" y="2797630"/>
            <a:ext cx="661574" cy="1728192"/>
            <a:chOff x="4012746" y="1615108"/>
            <a:chExt cx="661574" cy="1728192"/>
          </a:xfrm>
        </p:grpSpPr>
        <p:cxnSp>
          <p:nvCxnSpPr>
            <p:cNvPr id="7" name="直線コネクタ 6"/>
            <p:cNvCxnSpPr/>
            <p:nvPr/>
          </p:nvCxnSpPr>
          <p:spPr>
            <a:xfrm flipV="1">
              <a:off x="4012746" y="161510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/>
            <p:cNvCxnSpPr/>
            <p:nvPr/>
          </p:nvCxnSpPr>
          <p:spPr>
            <a:xfrm flipV="1">
              <a:off x="4012746" y="197514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/>
            <p:cNvCxnSpPr/>
            <p:nvPr/>
          </p:nvCxnSpPr>
          <p:spPr>
            <a:xfrm flipV="1">
              <a:off x="4012746" y="2335188"/>
              <a:ext cx="661574" cy="1008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007302" y="4741846"/>
            <a:ext cx="7632848" cy="1944216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12592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8286413" cy="10286999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Image</a:t>
            </a:r>
            <a:endParaRPr kumimoji="1" lang="ja-JP" altLang="en-US" dirty="0"/>
          </a:p>
        </p:txBody>
      </p:sp>
      <p:sp>
        <p:nvSpPr>
          <p:cNvPr id="4" name="タイトル 1"/>
          <p:cNvSpPr>
            <a:spLocks noGrp="1"/>
          </p:cNvSpPr>
          <p:nvPr>
            <p:ph type="title" hasCustomPrompt="1"/>
          </p:nvPr>
        </p:nvSpPr>
        <p:spPr>
          <a:xfrm>
            <a:off x="1006302" y="6871692"/>
            <a:ext cx="16201800" cy="108012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6000" spc="600" baseline="0"/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06302" y="7807796"/>
            <a:ext cx="16201800" cy="1944216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</a:p>
          <a:p>
            <a:pPr lvl="0"/>
            <a:r>
              <a:rPr kumimoji="1" lang="en-US" altLang="ja-JP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95796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uild="allAtOnce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ố trí Tùy chỉ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E6A3E9FE-513B-4C84-8B80-A73054E29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 sz="8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7" name="Chỗ dành sẵn cho Nội dung 6">
            <a:extLst>
              <a:ext uri="{FF2B5EF4-FFF2-40B4-BE49-F238E27FC236}">
                <a16:creationId xmlns:a16="http://schemas.microsoft.com/office/drawing/2014/main" id="{B6559BF5-3750-4C2D-B398-624CD91D3D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85750" y="1975148"/>
            <a:ext cx="17714913" cy="7200602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9" name="Chỗ dành sẵn cho Văn bản 8">
            <a:extLst>
              <a:ext uri="{FF2B5EF4-FFF2-40B4-BE49-F238E27FC236}">
                <a16:creationId xmlns:a16="http://schemas.microsoft.com/office/drawing/2014/main" id="{F0BCA83D-E8E6-447B-A7B4-47077597F1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750" y="9556750"/>
            <a:ext cx="17714913" cy="555625"/>
          </a:xfrm>
        </p:spPr>
        <p:txBody>
          <a:bodyPr/>
          <a:lstStyle>
            <a:lvl1pPr>
              <a:buFont typeface="+mj-lt"/>
              <a:buNone/>
              <a:defRPr sz="2000"/>
            </a:lvl1pPr>
            <a:lvl2pPr>
              <a:buFont typeface="+mj-lt"/>
              <a:buNone/>
              <a:defRPr sz="2000"/>
            </a:lvl2pPr>
            <a:lvl3pPr>
              <a:buFont typeface="+mj-lt"/>
              <a:buNone/>
              <a:defRPr sz="2000"/>
            </a:lvl3pPr>
            <a:lvl4pPr>
              <a:buFont typeface="+mj-lt"/>
              <a:buNone/>
              <a:defRPr sz="2000"/>
            </a:lvl4pPr>
            <a:lvl5pPr>
              <a:buFont typeface="+mj-lt"/>
              <a:buNone/>
              <a:defRPr sz="2000"/>
            </a:lvl5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9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790278" y="318964"/>
            <a:ext cx="16457772" cy="915119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1738139"/>
            <a:ext cx="16457772" cy="7451107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4123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98" r:id="rId2"/>
    <p:sldLayoutId id="2147483665" r:id="rId3"/>
    <p:sldLayoutId id="2147483673" r:id="rId4"/>
    <p:sldLayoutId id="2147483674" r:id="rId5"/>
    <p:sldLayoutId id="2147483672" r:id="rId6"/>
    <p:sldLayoutId id="2147483679" r:id="rId7"/>
    <p:sldLayoutId id="2147483680" r:id="rId8"/>
    <p:sldLayoutId id="2147483705" r:id="rId9"/>
    <p:sldLayoutId id="2147483686" r:id="rId10"/>
    <p:sldLayoutId id="2147483685" r:id="rId11"/>
    <p:sldLayoutId id="2147483696" r:id="rId12"/>
    <p:sldLayoutId id="2147483701" r:id="rId13"/>
    <p:sldLayoutId id="2147483703" r:id="rId14"/>
    <p:sldLayoutId id="2147483702" r:id="rId15"/>
    <p:sldLayoutId id="2147483704" r:id="rId16"/>
  </p:sldLayoutIdLst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spcBef>
          <a:spcPct val="20000"/>
        </a:spcBef>
        <a:buFont typeface="Arial" panose="020B0604020202020204" pitchFamily="34" charset="0"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title"/>
          </p:nvPr>
        </p:nvSpPr>
        <p:spPr>
          <a:xfrm>
            <a:off x="914320" y="4711674"/>
            <a:ext cx="16457772" cy="1440161"/>
          </a:xfrm>
        </p:spPr>
        <p:txBody>
          <a:bodyPr>
            <a:noAutofit/>
          </a:bodyPr>
          <a:lstStyle/>
          <a:p>
            <a:r>
              <a:rPr kumimoji="1" lang="en-US" altLang="ja-JP" spc="30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kumimoji="1" lang="en-US" altLang="ja-JP" spc="300"/>
              <a:t>LASSIFICATION AND </a:t>
            </a:r>
            <a:r>
              <a:rPr kumimoji="1" lang="en-US" altLang="ja-JP" spc="30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kumimoji="1" lang="en-US" altLang="ja-JP" spc="300"/>
              <a:t>EGRESSION OF TAXI </a:t>
            </a:r>
            <a:r>
              <a:rPr kumimoji="1" lang="en-US" altLang="ja-JP" spc="30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kumimoji="1" lang="en-US" altLang="ja-JP" spc="300"/>
              <a:t>IPS IN </a:t>
            </a:r>
            <a:r>
              <a:rPr kumimoji="1" lang="en-US" altLang="ja-JP" spc="30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kumimoji="1" lang="en-US" altLang="ja-JP" spc="300"/>
              <a:t>HICAGO</a:t>
            </a:r>
            <a:endParaRPr kumimoji="1" lang="ja-JP" altLang="en-US" spc="300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>
          <a:xfrm>
            <a:off x="970757" y="6007819"/>
            <a:ext cx="16344898" cy="575841"/>
          </a:xfrm>
        </p:spPr>
        <p:txBody>
          <a:bodyPr/>
          <a:lstStyle/>
          <a:p>
            <a:r>
              <a:rPr lang="vi-VN" altLang="ja-JP"/>
              <a:t>Final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>
          <a:xfrm>
            <a:off x="970757" y="7087716"/>
            <a:ext cx="16344898" cy="2880320"/>
          </a:xfrm>
        </p:spPr>
        <p:txBody>
          <a:bodyPr numCol="2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altLang="ja-JP" sz="4000" dirty="0">
                <a:solidFill>
                  <a:schemeClr val="accent1">
                    <a:lumMod val="75000"/>
                  </a:schemeClr>
                </a:solidFill>
              </a:rPr>
              <a:t>Student</a:t>
            </a:r>
            <a:r>
              <a:rPr lang="vi-VN" altLang="ja-JP" sz="4000" dirty="0">
                <a:solidFill>
                  <a:schemeClr val="accent1">
                    <a:lumMod val="75000"/>
                  </a:schemeClr>
                </a:solidFill>
              </a:rPr>
              <a:t>: </a:t>
            </a:r>
          </a:p>
          <a:p>
            <a:pPr marL="742950" indent="-742950" algn="l">
              <a:lnSpc>
                <a:spcPct val="110000"/>
              </a:lnSpc>
              <a:buFont typeface="+mj-lt"/>
              <a:buAutoNum type="arabicPeriod"/>
            </a:pPr>
            <a:r>
              <a:rPr lang="vi-VN" altLang="ja-JP" sz="4000" dirty="0"/>
              <a:t>Nguyễn Quang Thuận – 18521470</a:t>
            </a:r>
          </a:p>
          <a:p>
            <a:pPr marL="742950" indent="-742950" algn="l">
              <a:lnSpc>
                <a:spcPct val="110000"/>
              </a:lnSpc>
              <a:buFont typeface="+mj-lt"/>
              <a:buAutoNum type="arabicPeriod"/>
            </a:pPr>
            <a:r>
              <a:rPr lang="vi-VN" altLang="ja-JP" sz="4000" dirty="0">
                <a:solidFill>
                  <a:schemeClr val="accent1">
                    <a:lumMod val="75000"/>
                  </a:schemeClr>
                </a:solidFill>
              </a:rPr>
              <a:t>Võ Trung Hiếu – 18520758</a:t>
            </a:r>
          </a:p>
          <a:p>
            <a:pPr marL="742950" indent="-742950" algn="l">
              <a:lnSpc>
                <a:spcPct val="110000"/>
              </a:lnSpc>
              <a:buFont typeface="+mj-lt"/>
              <a:buAutoNum type="arabicPeriod"/>
            </a:pPr>
            <a:r>
              <a:rPr lang="vi-VN" altLang="ja-JP" sz="4000" dirty="0"/>
              <a:t>Trương Thanh Thiên – 18521431</a:t>
            </a:r>
          </a:p>
          <a:p>
            <a:pPr algn="l">
              <a:lnSpc>
                <a:spcPct val="110000"/>
              </a:lnSpc>
            </a:pPr>
            <a:r>
              <a:rPr lang="vi-VN" altLang="ja-JP" sz="40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altLang="ja-JP" sz="4000">
                <a:solidFill>
                  <a:schemeClr val="accent1">
                    <a:lumMod val="75000"/>
                  </a:schemeClr>
                </a:solidFill>
              </a:rPr>
              <a:t>Lecture</a:t>
            </a:r>
            <a:r>
              <a:rPr lang="vi-VN" altLang="ja-JP" sz="4000">
                <a:solidFill>
                  <a:schemeClr val="accent1">
                    <a:lumMod val="75000"/>
                  </a:schemeClr>
                </a:solidFill>
              </a:rPr>
              <a:t>: </a:t>
            </a:r>
            <a:endParaRPr lang="vi-VN" altLang="ja-JP" sz="4000" dirty="0">
              <a:solidFill>
                <a:schemeClr val="accent1">
                  <a:lumMod val="75000"/>
                </a:schemeClr>
              </a:solidFill>
            </a:endParaRPr>
          </a:p>
          <a:p>
            <a:pPr algn="l">
              <a:lnSpc>
                <a:spcPct val="110000"/>
              </a:lnSpc>
            </a:pPr>
            <a:r>
              <a:rPr lang="vi-VN" altLang="ja-JP" sz="4000" dirty="0"/>
              <a:t>	TS. Đỗ Trọng Hợp</a:t>
            </a:r>
          </a:p>
        </p:txBody>
      </p:sp>
    </p:spTree>
    <p:extLst>
      <p:ext uri="{BB962C8B-B14F-4D97-AF65-F5344CB8AC3E}">
        <p14:creationId xmlns:p14="http://schemas.microsoft.com/office/powerpoint/2010/main" val="729215371"/>
      </p:ext>
    </p:extLst>
  </p:cSld>
  <p:clrMapOvr>
    <a:masterClrMapping/>
  </p:clrMapOvr>
  <p:transition spd="med">
    <p:fade/>
  </p:transition>
  <p:extLst>
    <p:ext uri="{E180D4A7-C9FB-4DFB-919C-405C955672EB}">
      <p14:showEvtLst xmlns:p14="http://schemas.microsoft.com/office/powerpoint/2010/main">
        <p14:playEvt time="2365" objId="15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êu đề 4">
            <a:extLst>
              <a:ext uri="{FF2B5EF4-FFF2-40B4-BE49-F238E27FC236}">
                <a16:creationId xmlns:a16="http://schemas.microsoft.com/office/drawing/2014/main" id="{3C8BF824-FD42-4852-BF58-30CB86C2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Outline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FA2304-FA0E-4A50-B209-FD70427812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66342" y="1975148"/>
            <a:ext cx="16634321" cy="7200602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5000" dirty="0"/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</a:rPr>
              <a:t>Dataset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5000" dirty="0"/>
              <a:t>Methods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5000" dirty="0">
                <a:solidFill>
                  <a:schemeClr val="accent1">
                    <a:lumMod val="75000"/>
                  </a:schemeClr>
                </a:solidFill>
              </a:rPr>
              <a:t>Experiments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5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1850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êu đề 4">
            <a:extLst>
              <a:ext uri="{FF2B5EF4-FFF2-40B4-BE49-F238E27FC236}">
                <a16:creationId xmlns:a16="http://schemas.microsoft.com/office/drawing/2014/main" id="{3C8BF824-FD42-4852-BF58-30CB86C2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vi-VN"/>
              <a:t>NTRODUCTION</a:t>
            </a:r>
            <a:endParaRPr lang="en-US"/>
          </a:p>
        </p:txBody>
      </p:sp>
      <p:sp>
        <p:nvSpPr>
          <p:cNvPr id="6" name="Chỗ dành sẵn cho Văn bản 5">
            <a:extLst>
              <a:ext uri="{FF2B5EF4-FFF2-40B4-BE49-F238E27FC236}">
                <a16:creationId xmlns:a16="http://schemas.microsoft.com/office/drawing/2014/main" id="{B275020F-2A39-4237-A2C7-AC917731C6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êu đề 3">
            <a:extLst>
              <a:ext uri="{FF2B5EF4-FFF2-40B4-BE49-F238E27FC236}">
                <a16:creationId xmlns:a16="http://schemas.microsoft.com/office/drawing/2014/main" id="{F2C4E6CF-BC5C-4C53-BFE9-C630FA145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INTRODUCTION</a:t>
            </a:r>
            <a:endParaRPr lang="en-US"/>
          </a:p>
        </p:txBody>
      </p:sp>
      <p:pic>
        <p:nvPicPr>
          <p:cNvPr id="7" name="Content Placeholder 6" descr="A picture containing text, person, outdoor&#10;&#10;Description automatically generated">
            <a:extLst>
              <a:ext uri="{FF2B5EF4-FFF2-40B4-BE49-F238E27FC236}">
                <a16:creationId xmlns:a16="http://schemas.microsoft.com/office/drawing/2014/main" id="{BCCCC6BF-9D48-4208-92FB-F828C662031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414" y="1732120"/>
            <a:ext cx="14257584" cy="8019892"/>
          </a:xfrm>
        </p:spPr>
      </p:pic>
    </p:spTree>
    <p:extLst>
      <p:ext uri="{BB962C8B-B14F-4D97-AF65-F5344CB8AC3E}">
        <p14:creationId xmlns:p14="http://schemas.microsoft.com/office/powerpoint/2010/main" val="987779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2CB0EC6-E8C8-4A64-B76B-22BA3908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vi-VN"/>
              <a:t>ATASET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FA7F23-61E2-44CC-A070-F59CCA6746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4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85AAAC1-5EC9-43C6-A471-B45B4DC70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/>
              <a:t>ATASET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3748C8-F6AA-4AA6-A3B1-095636581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Taxi Trips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6F3E25-A366-4A3F-86D8-FC9D4AA866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dirty="0"/>
              <a:t>3.597.307 </a:t>
            </a:r>
            <a:r>
              <a:rPr lang="en-US" dirty="0"/>
              <a:t>rows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vi-VN" dirty="0"/>
              <a:t>23 </a:t>
            </a:r>
            <a:r>
              <a:rPr lang="en-US" dirty="0"/>
              <a:t>columns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B3DB952-B9FB-4FDD-BFD9-192028E76A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Used Data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85B295F-E97B-49B7-BA51-9AB8D6E9DD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500.000 rows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23 columns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2F46817-E74F-4F12-B5BC-95A02600D8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Add column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CDFF70BE-A37C-4525-8D39-1A7BCCBAEC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Add Have Tips column</a:t>
            </a:r>
          </a:p>
        </p:txBody>
      </p:sp>
    </p:spTree>
    <p:extLst>
      <p:ext uri="{BB962C8B-B14F-4D97-AF65-F5344CB8AC3E}">
        <p14:creationId xmlns:p14="http://schemas.microsoft.com/office/powerpoint/2010/main" val="125260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AEAFE1-9660-48DC-A7DC-643D0CED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Attributes of Dataset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928AE4-F05D-4CF7-9E14-AA8A2DF2C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A8A8003E-F3FE-42F5-BEC0-B8C2AD938D9B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427507339"/>
              </p:ext>
            </p:extLst>
          </p:nvPr>
        </p:nvGraphicFramePr>
        <p:xfrm>
          <a:off x="949594" y="2028190"/>
          <a:ext cx="16537822" cy="752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5086">
                  <a:extLst>
                    <a:ext uri="{9D8B030D-6E8A-4147-A177-3AD203B41FA5}">
                      <a16:colId xmlns:a16="http://schemas.microsoft.com/office/drawing/2014/main" val="442822160"/>
                    </a:ext>
                  </a:extLst>
                </a:gridCol>
                <a:gridCol w="4807077">
                  <a:extLst>
                    <a:ext uri="{9D8B030D-6E8A-4147-A177-3AD203B41FA5}">
                      <a16:colId xmlns:a16="http://schemas.microsoft.com/office/drawing/2014/main" val="884572226"/>
                    </a:ext>
                  </a:extLst>
                </a:gridCol>
                <a:gridCol w="8625659">
                  <a:extLst>
                    <a:ext uri="{9D8B030D-6E8A-4147-A177-3AD203B41FA5}">
                      <a16:colId xmlns:a16="http://schemas.microsoft.com/office/drawing/2014/main" val="3658938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Ordinal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94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7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Taxi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Taxi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086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Start 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start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8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End 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end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43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trip time 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38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Miles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Distance traveled (miles)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854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Pickup Census 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Population at pick-up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5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Dropoff Census 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Population at drop off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9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Pickup Community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Pickup Community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08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Dropoff Community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Dropoff Community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97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625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Money tips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93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04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BAEAFE1-9660-48DC-A7DC-643D0CED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Attributes of Dataset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928AE4-F05D-4CF7-9E14-AA8A2DF2CA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le 12">
            <a:extLst>
              <a:ext uri="{FF2B5EF4-FFF2-40B4-BE49-F238E27FC236}">
                <a16:creationId xmlns:a16="http://schemas.microsoft.com/office/drawing/2014/main" id="{4E64B5EB-22FE-4604-B9B2-75BEF0817B9A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482500684"/>
              </p:ext>
            </p:extLst>
          </p:nvPr>
        </p:nvGraphicFramePr>
        <p:xfrm>
          <a:off x="949594" y="2028190"/>
          <a:ext cx="16537822" cy="7528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5086">
                  <a:extLst>
                    <a:ext uri="{9D8B030D-6E8A-4147-A177-3AD203B41FA5}">
                      <a16:colId xmlns:a16="http://schemas.microsoft.com/office/drawing/2014/main" val="442822160"/>
                    </a:ext>
                  </a:extLst>
                </a:gridCol>
                <a:gridCol w="4807077">
                  <a:extLst>
                    <a:ext uri="{9D8B030D-6E8A-4147-A177-3AD203B41FA5}">
                      <a16:colId xmlns:a16="http://schemas.microsoft.com/office/drawing/2014/main" val="884572226"/>
                    </a:ext>
                  </a:extLst>
                </a:gridCol>
                <a:gridCol w="8625659">
                  <a:extLst>
                    <a:ext uri="{9D8B030D-6E8A-4147-A177-3AD203B41FA5}">
                      <a16:colId xmlns:a16="http://schemas.microsoft.com/office/drawing/2014/main" val="3658938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Ordinal numbers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941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Tolls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37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Additional fees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086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Trip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cost of the trip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883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Payment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Payment method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43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Management company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38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Pickup Centroid 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Latitude at pick up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854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Pickup Centroid 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Longitude at pick up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5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Pickup Centroid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Pick-up point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9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Dropoff Centroid Latitude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Latitude at drop off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089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Dropoff Centroid Longitude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Longitude at drop off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97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Dropoff Centroid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Drop-off point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625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Have 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Have money tips or not? </a:t>
                      </a:r>
                      <a:r>
                        <a:rPr lang="es-ES" dirty="0"/>
                        <a:t>0: No; 1: 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93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29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155A9CC-7013-4E17-8815-391FB554A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vi-VN"/>
              <a:t>ETHODS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50ACAD2-3E21-4530-9DBE-5C2089FB22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57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B1EBCF-C0C8-4906-BAF2-B63E44A8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vi-VN"/>
              <a:t>ETHODS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F74F6D-6A32-4B50-A676-303CBDE60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C73875-D0C0-41A0-A187-FD143591EE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2C0008-A188-4390-B724-875547884A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Data Processing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A2EB8-0AAD-472E-8D01-8DE7B56815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Transform And Normalize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1DC7B1-0928-41C9-8906-8406BB3D15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8B93AB-CA98-4079-9CB0-49198B6E2B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Choose Model For Training And Testing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07915C-D995-4424-A4A8-D4B28030C4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Score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7DD6B-2CB1-4DA8-BFE8-9A6D1FE953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Evaluation criteria</a:t>
            </a:r>
          </a:p>
        </p:txBody>
      </p:sp>
    </p:spTree>
    <p:extLst>
      <p:ext uri="{BB962C8B-B14F-4D97-AF65-F5344CB8AC3E}">
        <p14:creationId xmlns:p14="http://schemas.microsoft.com/office/powerpoint/2010/main" val="116058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 dirty="0"/>
              <a:t>DA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03246" y="365188"/>
            <a:ext cx="4176464" cy="1296144"/>
          </a:xfrm>
        </p:spPr>
        <p:txBody>
          <a:bodyPr/>
          <a:lstStyle/>
          <a:p>
            <a:r>
              <a:rPr lang="en-US" sz="4000" dirty="0">
                <a:solidFill>
                  <a:schemeClr val="accent1">
                    <a:lumMod val="75000"/>
                    <a:alpha val="90000"/>
                  </a:schemeClr>
                </a:solidFill>
              </a:rPr>
              <a:t>Handle nan and invalid value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66BE87-21C2-417C-A18C-14AD389C08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Drop or replace nan or invalid value in dataset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6702" y="3415308"/>
            <a:ext cx="4176464" cy="1296144"/>
          </a:xfrm>
        </p:spPr>
        <p:txBody>
          <a:bodyPr/>
          <a:lstStyle/>
          <a:p>
            <a:r>
              <a:rPr lang="en-US" sz="4000" dirty="0">
                <a:solidFill>
                  <a:schemeClr val="accent1">
                    <a:lumMod val="75000"/>
                    <a:alpha val="90000"/>
                  </a:schemeClr>
                </a:solidFill>
              </a:rPr>
              <a:t>Handle outlier value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C1E02AB-1750-44E8-95D3-E7A8E2C331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Drop outlier in dataset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9B6C89C-64EB-4CC8-82D0-5CA941151F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03246" y="6439644"/>
            <a:ext cx="4176464" cy="1296144"/>
          </a:xfrm>
        </p:spPr>
        <p:txBody>
          <a:bodyPr/>
          <a:lstStyle/>
          <a:p>
            <a:r>
              <a:rPr lang="en-US" sz="4000" dirty="0">
                <a:solidFill>
                  <a:schemeClr val="accent1">
                    <a:lumMod val="75000"/>
                    <a:alpha val="90000"/>
                  </a:schemeClr>
                </a:solidFill>
              </a:rPr>
              <a:t>Handle coordinate value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9BC104B-ED24-46F2-99C7-6EB7082C01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Divide the longitudes and latitudes into four parts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769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/>
              <a:t>ATA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/>
              <a:t>ROCESSING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03246" y="365188"/>
            <a:ext cx="4176464" cy="1296144"/>
          </a:xfrm>
        </p:spPr>
        <p:txBody>
          <a:bodyPr/>
          <a:lstStyle/>
          <a:p>
            <a:r>
              <a:rPr lang="en-US" sz="4000" dirty="0" err="1">
                <a:solidFill>
                  <a:schemeClr val="accent1">
                    <a:lumMod val="75000"/>
                    <a:alpha val="90000"/>
                  </a:schemeClr>
                </a:solidFill>
              </a:rPr>
              <a:t>StringIndexer</a:t>
            </a:r>
            <a:endParaRPr lang="en-US" sz="4000" dirty="0">
              <a:solidFill>
                <a:schemeClr val="accent1">
                  <a:lumMod val="75000"/>
                  <a:alpha val="90000"/>
                </a:schemeClr>
              </a:solidFill>
            </a:endParaRP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66BE87-21C2-417C-A18C-14AD389C08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Convert string values to index values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6702" y="3415308"/>
            <a:ext cx="4176464" cy="1296144"/>
          </a:xfrm>
        </p:spPr>
        <p:txBody>
          <a:bodyPr/>
          <a:lstStyle/>
          <a:p>
            <a:r>
              <a:rPr lang="en-US" sz="4000" dirty="0" err="1">
                <a:solidFill>
                  <a:schemeClr val="accent1">
                    <a:lumMod val="75000"/>
                    <a:alpha val="90000"/>
                  </a:schemeClr>
                </a:solidFill>
              </a:rPr>
              <a:t>OneHotEncoder</a:t>
            </a:r>
            <a:endParaRPr lang="en-US" sz="4000" dirty="0">
              <a:solidFill>
                <a:schemeClr val="accent1">
                  <a:lumMod val="75000"/>
                  <a:alpha val="90000"/>
                </a:schemeClr>
              </a:solidFill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C1E02AB-1750-44E8-95D3-E7A8E2C331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Convert index values to vector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9B6C89C-64EB-4CC8-82D0-5CA941151F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03246" y="6439644"/>
            <a:ext cx="4176464" cy="1296144"/>
          </a:xfrm>
        </p:spPr>
        <p:txBody>
          <a:bodyPr/>
          <a:lstStyle/>
          <a:p>
            <a:r>
              <a:rPr lang="en-US" sz="4000" dirty="0" err="1">
                <a:solidFill>
                  <a:schemeClr val="accent1">
                    <a:lumMod val="75000"/>
                    <a:alpha val="90000"/>
                  </a:schemeClr>
                </a:solidFill>
              </a:rPr>
              <a:t>VectorAssembler</a:t>
            </a:r>
            <a:endParaRPr lang="en-US" sz="4000" dirty="0">
              <a:solidFill>
                <a:schemeClr val="accent1">
                  <a:lumMod val="75000"/>
                  <a:alpha val="90000"/>
                </a:schemeClr>
              </a:solidFill>
            </a:endParaRP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9BC104B-ED24-46F2-99C7-6EB7082C01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Combine all features for training to vector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33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/>
              <a:t>ATA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/>
              <a:t>ROCESSING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03246" y="365188"/>
            <a:ext cx="4176464" cy="1296144"/>
          </a:xfrm>
        </p:spPr>
        <p:txBody>
          <a:bodyPr/>
          <a:lstStyle/>
          <a:p>
            <a:r>
              <a:rPr lang="vi-VN" sz="4000">
                <a:solidFill>
                  <a:schemeClr val="accent1">
                    <a:lumMod val="75000"/>
                    <a:alpha val="90000"/>
                  </a:schemeClr>
                </a:solidFill>
              </a:rPr>
              <a:t>StandardScaler</a:t>
            </a:r>
            <a:endParaRPr lang="en-US" sz="4000" dirty="0">
              <a:solidFill>
                <a:schemeClr val="accent1">
                  <a:lumMod val="75000"/>
                  <a:alpha val="90000"/>
                </a:schemeClr>
              </a:solidFill>
            </a:endParaRP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66BE87-21C2-417C-A18C-14AD389C08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vi-VN"/>
              <a:t>Normalize data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06702" y="3415308"/>
            <a:ext cx="4176464" cy="1296144"/>
          </a:xfrm>
        </p:spPr>
        <p:txBody>
          <a:bodyPr/>
          <a:lstStyle/>
          <a:p>
            <a:r>
              <a:rPr lang="vi-VN" sz="4000">
                <a:solidFill>
                  <a:schemeClr val="accent1">
                    <a:lumMod val="75000"/>
                    <a:alpha val="90000"/>
                  </a:schemeClr>
                </a:solidFill>
              </a:rPr>
              <a:t>PCA</a:t>
            </a:r>
            <a:endParaRPr lang="en-US" sz="4000" dirty="0">
              <a:solidFill>
                <a:schemeClr val="accent1">
                  <a:lumMod val="75000"/>
                  <a:alpha val="90000"/>
                </a:schemeClr>
              </a:solidFill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C1E02AB-1750-44E8-95D3-E7A8E2C331C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vi-VN"/>
              <a:t>Decreasing data dimentions</a:t>
            </a:r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9B6C89C-64EB-4CC8-82D0-5CA941151F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03246" y="6439644"/>
            <a:ext cx="4176464" cy="1296144"/>
          </a:xfrm>
        </p:spPr>
        <p:txBody>
          <a:bodyPr/>
          <a:lstStyle/>
          <a:p>
            <a:r>
              <a:rPr lang="vi-VN" sz="4000">
                <a:solidFill>
                  <a:schemeClr val="accent1">
                    <a:lumMod val="75000"/>
                    <a:alpha val="90000"/>
                  </a:schemeClr>
                </a:solidFill>
              </a:rPr>
              <a:t>Pearson Correlation</a:t>
            </a:r>
            <a:endParaRPr lang="en-US" sz="4000" dirty="0">
              <a:solidFill>
                <a:schemeClr val="accent1">
                  <a:lumMod val="75000"/>
                  <a:alpha val="90000"/>
                </a:schemeClr>
              </a:solidFill>
            </a:endParaRP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9BC104B-ED24-46F2-99C7-6EB7082C017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vi-VN"/>
              <a:t>Choose important features</a:t>
            </a:r>
            <a:endParaRPr lang="en-US" dirty="0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746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US" sz="5400"/>
              <a:t>ODEL</a:t>
            </a:r>
            <a:r>
              <a:rPr lang="vi-VN" sz="5400"/>
              <a:t>S</a:t>
            </a:r>
            <a:br>
              <a:rPr lang="vi-VN" sz="5400"/>
            </a:br>
            <a:r>
              <a:rPr lang="vi-VN" sz="5400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vi-VN" sz="5400"/>
              <a:t>LASSIFICATION</a:t>
            </a:r>
            <a:endParaRPr lang="en-US" sz="54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/>
              <a:t>Decision Tree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66BE87-21C2-417C-A18C-14AD389C0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4000" dirty="0"/>
              <a:t>Random Forest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C1E02AB-1750-44E8-95D3-E7A8E2C331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9B6C89C-64EB-4CC8-82D0-5CA941151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4000" dirty="0"/>
              <a:t>Naïve Bayes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9BC104B-ED24-46F2-99C7-6EB7082C0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76BCAD-9D97-4B7F-BA96-7B62B1D33D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15F6D-FBFF-4A34-8D54-A2CB5C656E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575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US" sz="5400"/>
              <a:t>ODEL</a:t>
            </a:r>
            <a:r>
              <a:rPr lang="vi-VN" sz="5400"/>
              <a:t>S</a:t>
            </a:r>
            <a:br>
              <a:rPr lang="vi-VN" sz="5400"/>
            </a:br>
            <a:r>
              <a:rPr lang="vi-VN" sz="5400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vi-VN" sz="5400"/>
              <a:t>EGRESSION</a:t>
            </a:r>
            <a:endParaRPr lang="en-US" sz="54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/>
              <a:t>Linear Regression</a:t>
            </a:r>
            <a:endParaRPr lang="en-US" sz="4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76BCAD-9D97-4B7F-BA96-7B62B1D33D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4000"/>
              <a:t>Gradient-Boosted Trees (GBTs)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598BE-144C-4645-B95C-1900C92297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9B6C89C-64EB-4CC8-82D0-5CA941151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4000"/>
              <a:t>Random Forest</a:t>
            </a:r>
            <a:endParaRPr lang="en-US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EF048-281D-45DA-B360-6316A16F48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191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/>
              <a:t>CORE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/>
              <a:t>Accuracy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66BE87-21C2-417C-A18C-14AD389C0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Ratio between the number of correctly predicted points and the total number of points in the test dataset.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4000" dirty="0"/>
              <a:t>Precision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C1E02AB-1750-44E8-95D3-E7A8E2C331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Ratio of True Positive scores among those classified as Positive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09B6C89C-64EB-4CC8-82D0-5CA941151F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4000" dirty="0"/>
              <a:t>Recall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A9BC104B-ED24-46F2-99C7-6EB7082C0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Ratio of True Positive scores among those that are actually Positive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76BCAD-9D97-4B7F-BA96-7B62B1D33DD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F1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15F6D-FBFF-4A34-8D54-A2CB5C656E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Harmonic mean of Precision and Recall (assuming that these two quantities are non-zero)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86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25DBE7F7-2540-475F-A1ED-338087A2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/>
              <a:t>CORE</a:t>
            </a:r>
            <a:endParaRPr lang="en-US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6E9E9F3-8CDB-4039-AF2D-D7A100DCD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vi-VN"/>
              <a:t>RMSE</a:t>
            </a:r>
            <a:endParaRPr lang="en-US" sz="400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4066BE87-21C2-417C-A18C-14AD389C08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vi-VN"/>
              <a:t>A</a:t>
            </a:r>
            <a:r>
              <a:rPr lang="en-US"/>
              <a:t>n estimator is the average of the squares of the errors, i.e. the difference between the estimates and what is evaluated (the actual value).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968768D-D042-4138-82B6-3D90BA625C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vi-VN" sz="4000"/>
              <a:t>R-Square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5C4DF-E24A-4094-B887-F9E59D3820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vi-VN"/>
              <a:t>E</a:t>
            </a:r>
            <a:r>
              <a:rPr lang="en-US"/>
              <a:t>xplain how much the variance of one variable explains the variance of the second.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ABE05246-9A94-48FA-BE10-18810209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B0604020202020204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11E6556A-F7E8-46AC-99F1-8D5BA79B5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6413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Roboto" panose="02000000000000000000" pitchFamily="2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886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939E76-64CC-437A-85F8-0CCF2975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vi-VN" dirty="0"/>
              <a:t>XPERIMENTS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02F67A-F3A4-4A77-A9CE-D3228DDF85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3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B1EBCF-C0C8-4906-BAF2-B63E44A8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vi-VN" dirty="0"/>
              <a:t>XPERIMENTS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F74F6D-6A32-4B50-A676-303CBDE60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Implementation Process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06B82-C315-432C-A6FF-5F06E431C3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2C0008-A188-4390-B724-875547884A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EDA Result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5FBB5-F3B0-44FC-8C98-5686BC804B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C1DC7B1-0928-41C9-8906-8406BB3D154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Experimental results and evaluation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EF317C-458D-4333-A5C8-C06C0E09E80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62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IMPLEMENTATION PROCESS</a:t>
            </a:r>
            <a:endParaRPr lang="en-US" dirty="0"/>
          </a:p>
        </p:txBody>
      </p:sp>
      <p:pic>
        <p:nvPicPr>
          <p:cNvPr id="12" name="Picture Placeholder 11" descr="Diagram&#10;&#10;Description automatically generated">
            <a:extLst>
              <a:ext uri="{FF2B5EF4-FFF2-40B4-BE49-F238E27FC236}">
                <a16:creationId xmlns:a16="http://schemas.microsoft.com/office/drawing/2014/main" id="{9F347724-A954-4B3B-9AAC-B628958BB7C5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52" y="3270795"/>
            <a:ext cx="17404910" cy="4609010"/>
          </a:xfrm>
        </p:spPr>
      </p:pic>
    </p:spTree>
    <p:extLst>
      <p:ext uri="{BB962C8B-B14F-4D97-AF65-F5344CB8AC3E}">
        <p14:creationId xmlns:p14="http://schemas.microsoft.com/office/powerpoint/2010/main" val="2391259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EDA RESULT</a:t>
            </a:r>
            <a:endParaRPr lang="en-US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53FB13C7-E127-4CC6-BC6E-CB93D43672E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032331" y="2155347"/>
            <a:ext cx="10221751" cy="6839905"/>
          </a:xfrm>
        </p:spPr>
      </p:pic>
    </p:spTree>
    <p:extLst>
      <p:ext uri="{BB962C8B-B14F-4D97-AF65-F5344CB8AC3E}">
        <p14:creationId xmlns:p14="http://schemas.microsoft.com/office/powerpoint/2010/main" val="3506802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EDA RESULT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76A0AB-D979-4188-832E-DAF4ECA75BF8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3994225" y="2169637"/>
            <a:ext cx="10297962" cy="6811326"/>
          </a:xfrm>
        </p:spPr>
      </p:pic>
    </p:spTree>
    <p:extLst>
      <p:ext uri="{BB962C8B-B14F-4D97-AF65-F5344CB8AC3E}">
        <p14:creationId xmlns:p14="http://schemas.microsoft.com/office/powerpoint/2010/main" val="1754354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EDA RESULT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1EB0BA-E0D9-49EC-96BA-48D715C8AFE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037094" y="2155347"/>
            <a:ext cx="10212225" cy="6839905"/>
          </a:xfrm>
        </p:spPr>
      </p:pic>
    </p:spTree>
    <p:extLst>
      <p:ext uri="{BB962C8B-B14F-4D97-AF65-F5344CB8AC3E}">
        <p14:creationId xmlns:p14="http://schemas.microsoft.com/office/powerpoint/2010/main" val="4090229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EDA RESULT</a:t>
            </a:r>
            <a:endParaRPr lang="en-US" dirty="0"/>
          </a:p>
        </p:txBody>
      </p:sp>
      <p:pic>
        <p:nvPicPr>
          <p:cNvPr id="7" name="Content Placeholder 6" descr="Chart&#10;&#10;Description automatically generated">
            <a:extLst>
              <a:ext uri="{FF2B5EF4-FFF2-40B4-BE49-F238E27FC236}">
                <a16:creationId xmlns:a16="http://schemas.microsoft.com/office/drawing/2014/main" id="{2E5C0DA4-2EFA-4EAB-A6CA-F8384011BAEC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87" y="1543100"/>
            <a:ext cx="7413837" cy="7894136"/>
          </a:xfrm>
        </p:spPr>
      </p:pic>
    </p:spTree>
    <p:extLst>
      <p:ext uri="{BB962C8B-B14F-4D97-AF65-F5344CB8AC3E}">
        <p14:creationId xmlns:p14="http://schemas.microsoft.com/office/powerpoint/2010/main" val="266874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vi-VN"/>
              <a:t>LASSIFICATION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/>
              <a:t>VALUATION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943AF4F-CD35-4F84-A01D-FCC952CF95A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32824" y="2046660"/>
            <a:ext cx="14420764" cy="7057280"/>
          </a:xfrm>
        </p:spPr>
      </p:pic>
    </p:spTree>
    <p:extLst>
      <p:ext uri="{BB962C8B-B14F-4D97-AF65-F5344CB8AC3E}">
        <p14:creationId xmlns:p14="http://schemas.microsoft.com/office/powerpoint/2010/main" val="307479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7159AB-B495-4DE9-937A-F0A426BC5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vi-VN"/>
              <a:t>LASSIFICATION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/>
              <a:t>VALUATION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943AF4F-CD35-4F84-A01D-FCC952CF95A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932824" y="2046660"/>
            <a:ext cx="14420764" cy="705728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AA9EC7-E02F-4E4D-9D9E-E1B30B1C945C}"/>
              </a:ext>
            </a:extLst>
          </p:cNvPr>
          <p:cNvSpPr/>
          <p:nvPr/>
        </p:nvSpPr>
        <p:spPr>
          <a:xfrm>
            <a:off x="1438350" y="6295628"/>
            <a:ext cx="15481720" cy="64807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B4CC6E-D9D7-4CFD-AF05-21B5C0B0B014}"/>
              </a:ext>
            </a:extLst>
          </p:cNvPr>
          <p:cNvSpPr/>
          <p:nvPr/>
        </p:nvSpPr>
        <p:spPr>
          <a:xfrm>
            <a:off x="1590750" y="2551212"/>
            <a:ext cx="15481720" cy="64807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70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6795-79CF-45CF-92B3-E092382C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vi-VN"/>
              <a:t>EGRESSION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/>
              <a:t>VALUATION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C5E3DD-9318-42F8-9C11-34DF42B71EC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158432" y="2421181"/>
            <a:ext cx="13969550" cy="630823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DB8AD-362C-42D0-942A-ABCAD2CB8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08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6795-79CF-45CF-92B3-E092382C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vi-VN"/>
              <a:t>EGRESSION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/>
              <a:t>VALUATION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C5E3DD-9318-42F8-9C11-34DF42B71EC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158432" y="2421181"/>
            <a:ext cx="13969550" cy="630823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DB8AD-362C-42D0-942A-ABCAD2CB8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31EAF7-6F2D-4D5E-88F4-728F555E7114}"/>
              </a:ext>
            </a:extLst>
          </p:cNvPr>
          <p:cNvSpPr/>
          <p:nvPr/>
        </p:nvSpPr>
        <p:spPr>
          <a:xfrm>
            <a:off x="1438350" y="8023820"/>
            <a:ext cx="15481720" cy="64807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834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46795-79CF-45CF-92B3-E092382CA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vi-VN"/>
              <a:t>EGRESSION 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/>
              <a:t>VALUATION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DB8AD-362C-42D0-942A-ABCAD2CB8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4D780C-148D-443F-BEDD-7951B432384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654376" y="4158227"/>
            <a:ext cx="14977662" cy="2834146"/>
          </a:xfrm>
        </p:spPr>
      </p:pic>
    </p:spTree>
    <p:extLst>
      <p:ext uri="{BB962C8B-B14F-4D97-AF65-F5344CB8AC3E}">
        <p14:creationId xmlns:p14="http://schemas.microsoft.com/office/powerpoint/2010/main" val="2122698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939E76-64CC-437A-85F8-0CCF2975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solidFill>
                  <a:schemeClr val="accent1">
                    <a:lumMod val="75000"/>
                  </a:schemeClr>
                </a:solidFill>
              </a:rPr>
              <a:t>C</a:t>
            </a:r>
            <a:r>
              <a:rPr lang="vi-VN"/>
              <a:t>ONCLUSION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02F67A-F3A4-4A77-A9CE-D3228DDF85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63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D33EF3-8E3E-46A9-8C03-9780CF44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CONCLUSION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A73B3E-301B-42F7-B02E-520F666CDC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>
                <a:solidFill>
                  <a:schemeClr val="accent1">
                    <a:lumMod val="75000"/>
                  </a:schemeClr>
                </a:solidFill>
              </a:rPr>
              <a:t>Basically solve the problem posed</a:t>
            </a:r>
            <a:r>
              <a:rPr lang="vi-VN" sz="400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/>
              <a:t>Performed the steps of exploratory analysis, data preprocessing, data normalization before being included in the training process</a:t>
            </a:r>
            <a:r>
              <a:rPr lang="vi-VN" sz="4000"/>
              <a:t>.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4000">
                <a:solidFill>
                  <a:schemeClr val="accent1">
                    <a:lumMod val="75000"/>
                  </a:schemeClr>
                </a:solidFill>
              </a:rPr>
              <a:t>Suggested suitable and efficient solving methods in the experimental part</a:t>
            </a:r>
            <a:r>
              <a:rPr lang="vi-VN" sz="400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3F3CA3-AEB4-4540-A5EF-701F8616F7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14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D33EF3-8E3E-46A9-8C03-9780CF44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CONCLUSION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A73B3E-301B-42F7-B02E-520F666CDC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742950" indent="-742950">
              <a:lnSpc>
                <a:spcPct val="200000"/>
              </a:lnSpc>
              <a:buFont typeface="+mj-lt"/>
              <a:buAutoNum type="arabicPeriod" startAt="4"/>
            </a:pPr>
            <a:r>
              <a:rPr lang="en-US" sz="4000" dirty="0" err="1">
                <a:solidFill>
                  <a:schemeClr val="accent1">
                    <a:lumMod val="75000"/>
                  </a:schemeClr>
                </a:solidFill>
              </a:rPr>
              <a:t>LinearSVM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 classifier model has an accuracy of 97.28%</a:t>
            </a:r>
            <a:r>
              <a:rPr lang="vi-VN" sz="4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742950" indent="-742950">
              <a:lnSpc>
                <a:spcPct val="200000"/>
              </a:lnSpc>
              <a:buFont typeface="+mj-lt"/>
              <a:buAutoNum type="arabicPeriod" startAt="4"/>
            </a:pPr>
            <a:r>
              <a:rPr lang="en-US" sz="4000" dirty="0"/>
              <a:t>The GBTs Regression model has an accuracy of 76.2%.</a:t>
            </a:r>
            <a:endParaRPr lang="vi-VN" sz="4000" dirty="0"/>
          </a:p>
          <a:p>
            <a:pPr marL="742950" indent="-742950">
              <a:lnSpc>
                <a:spcPct val="200000"/>
              </a:lnSpc>
              <a:buFont typeface="+mj-lt"/>
              <a:buAutoNum type="arabicPeriod" startAt="4"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The dual system of classification and regression achieved an overall accuracy of 66.50%.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3F3CA3-AEB4-4540-A5EF-701F8616F7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77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タイトル 1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THANK </a:t>
            </a:r>
            <a:r>
              <a:rPr kumimoji="1" lang="en-US" altLang="ja-JP" dirty="0">
                <a:solidFill>
                  <a:schemeClr val="accent1"/>
                </a:solidFill>
              </a:rPr>
              <a:t>Y</a:t>
            </a:r>
            <a:r>
              <a:rPr kumimoji="1" lang="en-US" altLang="ja-JP" dirty="0"/>
              <a:t>OU!</a:t>
            </a:r>
            <a:endParaRPr kumimoji="1" lang="ja-JP" altLang="en-US" dirty="0"/>
          </a:p>
        </p:txBody>
      </p:sp>
      <p:sp>
        <p:nvSpPr>
          <p:cNvPr id="15" name="テキスト プレースホルダー 1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ja-JP" dirty="0"/>
              <a:t>Any Questions?</a:t>
            </a:r>
            <a:endParaRPr kumimoji="1" lang="ja-JP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B8AB7-0DB2-4547-B2C6-85201FFB01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20996"/>
      </p:ext>
    </p:extLst>
  </p:cSld>
  <p:clrMapOvr>
    <a:masterClrMapping/>
  </p:clrMapOvr>
  <p:transition spd="slow" advTm="4136">
    <p:push dir="u"/>
  </p:transition>
</p:sld>
</file>

<file path=ppt/theme/theme1.xml><?xml version="1.0" encoding="utf-8"?>
<a:theme xmlns:a="http://schemas.openxmlformats.org/drawingml/2006/main" name="Title">
  <a:themeElements>
    <a:clrScheme name="Scheat">
      <a:dk1>
        <a:srgbClr val="FFFFFF"/>
      </a:dk1>
      <a:lt1>
        <a:srgbClr val="000000"/>
      </a:lt1>
      <a:dk2>
        <a:srgbClr val="FFFFFF"/>
      </a:dk2>
      <a:lt2>
        <a:srgbClr val="EEECE1"/>
      </a:lt2>
      <a:accent1>
        <a:srgbClr val="7BCFF5"/>
      </a:accent1>
      <a:accent2>
        <a:srgbClr val="BBFF02"/>
      </a:accent2>
      <a:accent3>
        <a:srgbClr val="00CCFF"/>
      </a:accent3>
      <a:accent4>
        <a:srgbClr val="FF99FF"/>
      </a:accent4>
      <a:accent5>
        <a:srgbClr val="4BACC6"/>
      </a:accent5>
      <a:accent6>
        <a:srgbClr val="F79646"/>
      </a:accent6>
      <a:hlink>
        <a:srgbClr val="7BCFF5"/>
      </a:hlink>
      <a:folHlink>
        <a:srgbClr val="25AFEE"/>
      </a:folHlink>
    </a:clrScheme>
    <a:fontScheme name="Scheat">
      <a:majorFont>
        <a:latin typeface="Crimson Text"/>
        <a:ea typeface="Spica Neue"/>
        <a:cs typeface=""/>
      </a:majorFont>
      <a:minorFont>
        <a:latin typeface="Crimson Text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655D6D0CA8FDC84D832AA61A199B5A80" ma:contentTypeVersion="8" ma:contentTypeDescription="Tạo tài liệu mới." ma:contentTypeScope="" ma:versionID="9c4af1a3d9cc364d7ed98b1001d389ff">
  <xsd:schema xmlns:xsd="http://www.w3.org/2001/XMLSchema" xmlns:xs="http://www.w3.org/2001/XMLSchema" xmlns:p="http://schemas.microsoft.com/office/2006/metadata/properties" xmlns:ns2="107a1573-b758-4ac8-9a5b-c19fa9bc837f" xmlns:ns3="fc8d21d2-e81b-48f3-b5a3-5cadf2a7db1f" targetNamespace="http://schemas.microsoft.com/office/2006/metadata/properties" ma:root="true" ma:fieldsID="ad5c95a743ff80fe598ba79cea74f556" ns2:_="" ns3:_="">
    <xsd:import namespace="107a1573-b758-4ac8-9a5b-c19fa9bc837f"/>
    <xsd:import namespace="fc8d21d2-e81b-48f3-b5a3-5cadf2a7db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7a1573-b758-4ac8-9a5b-c19fa9bc83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d21d2-e81b-48f3-b5a3-5cadf2a7db1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35A0-C7A0-4B03-8FFF-FFC071E2497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BC8D71F-DC68-4822-9BA9-D871A1FF71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2D95FC-23A3-46AA-B3E2-32FB0CACDF9B}"/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599</Words>
  <Application>Microsoft Office PowerPoint</Application>
  <PresentationFormat>Custom</PresentationFormat>
  <Paragraphs>201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Crimson Text</vt:lpstr>
      <vt:lpstr>Roboto</vt:lpstr>
      <vt:lpstr>Title</vt:lpstr>
      <vt:lpstr>CLASSIFICATION AND REGRESSION OF TAXI TIPS IN CHICAGO</vt:lpstr>
      <vt:lpstr>Outline</vt:lpstr>
      <vt:lpstr>INTRODUCTION</vt:lpstr>
      <vt:lpstr>INTRODUCTION</vt:lpstr>
      <vt:lpstr>DATASET</vt:lpstr>
      <vt:lpstr>DATASET</vt:lpstr>
      <vt:lpstr>Attributes of Dataset</vt:lpstr>
      <vt:lpstr>Attributes of Dataset</vt:lpstr>
      <vt:lpstr>METHODS</vt:lpstr>
      <vt:lpstr>METHODS</vt:lpstr>
      <vt:lpstr>EDA</vt:lpstr>
      <vt:lpstr>DATA PROCESSING</vt:lpstr>
      <vt:lpstr>DATA PROCESSING</vt:lpstr>
      <vt:lpstr>MODELS CLASSIFICATION</vt:lpstr>
      <vt:lpstr>MODELS REGRESSION</vt:lpstr>
      <vt:lpstr>SCORE</vt:lpstr>
      <vt:lpstr>SCORE</vt:lpstr>
      <vt:lpstr>EXPERIMENTS</vt:lpstr>
      <vt:lpstr>EXPERIMENTS</vt:lpstr>
      <vt:lpstr>IMPLEMENTATION PROCESS</vt:lpstr>
      <vt:lpstr>EDA RESULT</vt:lpstr>
      <vt:lpstr>EDA RESULT</vt:lpstr>
      <vt:lpstr>EDA RESULT</vt:lpstr>
      <vt:lpstr>EDA RESULT</vt:lpstr>
      <vt:lpstr>CLASSIFICATION EVALUATION</vt:lpstr>
      <vt:lpstr>CLASSIFICATION EVALUATION</vt:lpstr>
      <vt:lpstr>REGRESSION EVALUATION</vt:lpstr>
      <vt:lpstr>REGRESSION EVALUATION</vt:lpstr>
      <vt:lpstr>REGRESSION EVALUATION</vt:lpstr>
      <vt:lpstr>CONCLUSION</vt:lpstr>
      <vt:lpstr>CONCLUSION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Scheat</dc:title>
  <dc:creator>Jun</dc:creator>
  <cp:lastModifiedBy>Võ Trung Hiếu</cp:lastModifiedBy>
  <cp:revision>152</cp:revision>
  <dcterms:created xsi:type="dcterms:W3CDTF">2015-02-26T15:14:38Z</dcterms:created>
  <dcterms:modified xsi:type="dcterms:W3CDTF">2021-07-24T17:32:16Z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0x010100655D6D0CA8FDC84D832AA61A199B5A80</vt:lpwstr>
  </property>
</Properties>
</file>